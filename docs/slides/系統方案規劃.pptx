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1298448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249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A"/>
                </a:solidFill>
              </a:rPr>
              <a:t>SOLUTION BLUEPRINT · PHASED ROLLOUT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127248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632704" y="4133088"/>
            <a:ext cx="914400" cy="0"/>
          </a:xfrm>
          <a:prstGeom prst="line">
            <a:avLst/>
          </a:prstGeom>
          <a:noFill/>
          <a:ln w="15240">
            <a:solidFill>
              <a:srgbClr val="C9A3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高級住宅・智慧管理平台　｜　開發優先 × 分階段硬體導入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175504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平台開發 → 基礎上線 → 智慧擴充 → 旗艦完善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硬體項目與整合狀態對齊實際程式現況：已整合上線 · 建議必備 · 選配待接｜本方案不含報價，價格另行提供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SOLUTION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方案總覽：一套平台，伴隨建案成長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軟體平台先行、硬體按工程進度分階段就位 —— 從預售展示到旗艦社區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先軟後硬 · 投入可控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11274552" cy="603504"/>
          </a:xfrm>
          <a:prstGeom prst="roundRect">
            <a:avLst>
              <a:gd name="adj" fmla="val 16667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5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9808" y="1572768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平台組成　</a:t>
            </a:r>
            <a:pPr indent="0" marL="0">
              <a:buNone/>
            </a:pPr>
            <a:r>
              <a:rPr lang="en-US" sz="12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住戶手機 App　・　管理後台 / 櫃檯 Kiosk　・　LINE 官方帳號　・　語音助理(預約/派單)　・　IoT 裝置控制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432304"/>
            <a:ext cx="3639312" cy="2651760"/>
          </a:xfrm>
          <a:prstGeom prst="roundRect">
            <a:avLst>
              <a:gd name="adj" fmla="val 3793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92808" y="2706624"/>
            <a:ext cx="768096" cy="768096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688" y="2889504"/>
            <a:ext cx="402336" cy="4023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358444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建案差異化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1463040" y="4023360"/>
            <a:ext cx="1627632" cy="0"/>
          </a:xfrm>
          <a:prstGeom prst="line">
            <a:avLst/>
          </a:prstGeom>
          <a:noFill/>
          <a:ln w="7620">
            <a:solidFill>
              <a:srgbClr val="C9A35A">
                <a:alpha val="55000"/>
              </a:srgbClr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749808" y="4133088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智慧建材 × 智慧服務一體成形。預售期即在樣品屋實演「語音預約 → 自動派單」與語音控制情境，成為銷售亮點。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0248" y="2432304"/>
            <a:ext cx="3639312" cy="2651760"/>
          </a:xfrm>
          <a:prstGeom prst="roundRect">
            <a:avLst>
              <a:gd name="adj" fmla="val 3793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705856" y="2706624"/>
            <a:ext cx="768096" cy="768096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889504"/>
            <a:ext cx="402336" cy="40233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53128" y="358444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交屋即用</a:t>
            </a:r>
            <a:endParaRPr lang="en-US" sz="1650" dirty="0"/>
          </a:p>
        </p:txBody>
      </p:sp>
      <p:sp>
        <p:nvSpPr>
          <p:cNvPr id="18" name="Shape 14"/>
          <p:cNvSpPr/>
          <p:nvPr/>
        </p:nvSpPr>
        <p:spPr>
          <a:xfrm>
            <a:off x="5276088" y="4023360"/>
            <a:ext cx="1627632" cy="0"/>
          </a:xfrm>
          <a:prstGeom prst="line">
            <a:avLst/>
          </a:prstGeom>
          <a:noFill/>
          <a:ln w="7620">
            <a:solidFill>
              <a:srgbClr val="C9A35A">
                <a:alpha val="55000"/>
              </a:srgbClr>
            </a:solidFill>
            <a:prstDash val="dash"/>
          </a:ln>
        </p:spPr>
      </p:sp>
      <p:sp>
        <p:nvSpPr>
          <p:cNvPr id="19" name="Text 15"/>
          <p:cNvSpPr/>
          <p:nvPr/>
        </p:nvSpPr>
        <p:spPr>
          <a:xfrm>
            <a:off x="4562856" y="4133088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軟體平台於 Phase 0 先行開發上線，住戶資料、公設、帳務提前建置 —— 交屋當日 App 與管理系統即刻開通。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083296" y="2432304"/>
            <a:ext cx="3639312" cy="2651760"/>
          </a:xfrm>
          <a:prstGeom prst="roundRect">
            <a:avLst>
              <a:gd name="adj" fmla="val 3793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9518904" y="2706624"/>
            <a:ext cx="768096" cy="768096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2889504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66176" y="358444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先軟後硬・投入可控</a:t>
            </a:r>
            <a:endParaRPr lang="en-US" sz="1650" dirty="0"/>
          </a:p>
        </p:txBody>
      </p:sp>
      <p:sp>
        <p:nvSpPr>
          <p:cNvPr id="24" name="Shape 19"/>
          <p:cNvSpPr/>
          <p:nvPr/>
        </p:nvSpPr>
        <p:spPr>
          <a:xfrm>
            <a:off x="9089136" y="4023360"/>
            <a:ext cx="1627632" cy="0"/>
          </a:xfrm>
          <a:prstGeom prst="line">
            <a:avLst/>
          </a:prstGeom>
          <a:noFill/>
          <a:ln w="7620">
            <a:solidFill>
              <a:srgbClr val="C9A35A">
                <a:alpha val="55000"/>
              </a:srgbClr>
            </a:solidFill>
            <a:prstDash val="dash"/>
          </a:ln>
        </p:spPr>
      </p:sp>
      <p:sp>
        <p:nvSpPr>
          <p:cNvPr id="25" name="Text 20"/>
          <p:cNvSpPr/>
          <p:nvPr/>
        </p:nvSpPr>
        <p:spPr>
          <a:xfrm>
            <a:off x="8375904" y="4133088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開發優先啟動，硬體分四階段隨工程進度導入；每階段獨立驗收，投資節奏可依銷售狀況調節。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57200" y="5340096"/>
            <a:ext cx="11274552" cy="658368"/>
          </a:xfrm>
          <a:prstGeom prst="roundRect">
            <a:avLst>
              <a:gd name="adj" fmla="val 15278"/>
            </a:avLst>
          </a:prstGeom>
          <a:solidFill>
            <a:srgbClr val="10241D">
              <a:alpha val="92000"/>
            </a:srgbClr>
          </a:solidFill>
          <a:ln w="12700">
            <a:solidFill>
              <a:srgbClr val="69D6A8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749808" y="5340096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平台現況　</a:t>
            </a:r>
            <a:pPr indent="0" marL="0">
              <a:buNone/>
            </a:pPr>
            <a:r>
              <a:rPr lang="en-US" sz="1200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雲端後端・Web 管理端・LINE 整合・語音預約/派單・AI 管家・IoT 閘道 —— 均已整合上線，Phase 0 即可對外展示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方案總覽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一套系統 · 四個階段 · 隨建案成長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FEATURE MODULE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功能模組地圖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十二大模組構成完整社區營運中樞 —— 絕大多數已整合上線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軟體功能現況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上線 · 1 待接硬體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公設預約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58368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場地/設施線上預約・審核・時段管理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02152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語音預約・派單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02152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520440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一句話代訂公設、自動建立派工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81344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64224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包裹管理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64224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382512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到件登記・領取通知・簽收紀錄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43416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26296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停車管理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226296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9244584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車位配置・訪客車登記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帳務繳費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58368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管理費帳單・繳費紀錄・催繳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19272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02152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公告通知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02152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3520440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社區公告・LINE/簡訊/推播多通道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81344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364224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維修工單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64224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382512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報修・派工・進度追蹤・完工回報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43416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226296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住戶管理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26296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9244584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住戶名冊・門牌綁定・權限分級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40080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整合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0080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658368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OA 綁定・推播・腳本客服・健康監控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319272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502152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管家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02152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3520440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自然語言問答、導辦社區事務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81344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364224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裝置控制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64224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6382512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光/空調/窗簾/安防，經邊緣閘道下發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043416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226296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門禁通行證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9226296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9244584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 通行證已實作；掃碼機為選配硬體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功能模組地圖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模組化架構：可依建案需求增減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系統架構：雲端到終端，分層解耦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不直接對接設備 —— 指令經邊緣閘道下發，任一層可獨立擴充或替換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 → 端 · 分層解耦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700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700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92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02996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27632" y="1700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Clients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4270248" y="1700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住戶手機 App(iOS/Android/Web) · LINE 官方帳號 · 櫃檯平板 / 管理 Kiosk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33272" y="2660904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2843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66928" y="2843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16" name="Shape 13"/>
          <p:cNvSpPr/>
          <p:nvPr/>
        </p:nvSpPr>
        <p:spPr>
          <a:xfrm>
            <a:off x="841248" y="3035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172968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27632" y="2843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雲端平台層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</a:t>
            </a:r>
            <a:endParaRPr lang="en-US" sz="1550" dirty="0"/>
          </a:p>
        </p:txBody>
      </p:sp>
      <p:sp>
        <p:nvSpPr>
          <p:cNvPr id="19" name="Text 15"/>
          <p:cNvSpPr/>
          <p:nvPr/>
        </p:nvSpPr>
        <p:spPr>
          <a:xfrm>
            <a:off x="4270248" y="2843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後端(tRPC) · Vercel Web · 訊息通道(LINE/SMS/推播) · AI(Gemini/NLP)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1033272" y="3803904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66928" y="3986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66928" y="3986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3" name="Shape 19"/>
          <p:cNvSpPr/>
          <p:nvPr/>
        </p:nvSpPr>
        <p:spPr>
          <a:xfrm>
            <a:off x="841248" y="4178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315968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27632" y="3986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社區閘道層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4270248" y="3986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路由/防火牆(VLAN) · PoE 交換器 · 邊緣閘道主機(HTTP 已通/MQTT·Modbus 待接) · UPS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1033272" y="4946904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566928" y="5129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" y="5129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30" name="Shape 25"/>
          <p:cNvSpPr/>
          <p:nvPr/>
        </p:nvSpPr>
        <p:spPr>
          <a:xfrm>
            <a:off x="841248" y="5321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5458968"/>
            <a:ext cx="329184" cy="32918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627632" y="5129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Devices</a:t>
            </a:r>
            <a:endParaRPr lang="en-US" sz="1550" dirty="0"/>
          </a:p>
        </p:txBody>
      </p:sp>
      <p:sp>
        <p:nvSpPr>
          <p:cNvPr id="33" name="Text 27"/>
          <p:cNvSpPr/>
          <p:nvPr/>
        </p:nvSpPr>
        <p:spPr>
          <a:xfrm>
            <a:off x="4270248" y="5129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門禁/柵欄/包裹櫃/電梯 · 住戶光/空調/窗簾/安防 · Google Nest 音箱/顯示器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11018520" y="1883664"/>
            <a:ext cx="0" cy="4050792"/>
          </a:xfrm>
          <a:prstGeom prst="line">
            <a:avLst/>
          </a:prstGeom>
          <a:noFill/>
          <a:ln w="17780">
            <a:solidFill>
              <a:srgbClr val="3A4F73"/>
            </a:solidFill>
            <a:prstDash val="dash"/>
            <a:headEnd type="triangle"/>
            <a:tailEnd type="triangle"/>
          </a:ln>
        </p:spPr>
      </p:sp>
      <p:sp>
        <p:nvSpPr>
          <p:cNvPr id="35" name="Text 29"/>
          <p:cNvSpPr/>
          <p:nvPr/>
        </p:nvSpPr>
        <p:spPr>
          <a:xfrm>
            <a:off x="11073384" y="1929384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指令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下行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11073384" y="524865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回報</a:t>
            </a:r>
            <a:endParaRPr lang="en-US" sz="1050" dirty="0"/>
          </a:p>
        </p:txBody>
      </p:sp>
      <p:sp>
        <p:nvSpPr>
          <p:cNvPr id="37" name="Text 3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系統架構</a:t>
            </a:r>
            <a:endParaRPr lang="en-US" sz="1050" dirty="0"/>
          </a:p>
        </p:txBody>
      </p:sp>
      <p:sp>
        <p:nvSpPr>
          <p:cNvPr id="38" name="Text 32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建雲端 · Phase 1 建閘道 · Phase 2/3 接設備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PHASED ROLLOUT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分階段導入路線圖：開發優先，硬體隨工程就位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四個階段對齊建案時程 —— 每階段獨立驗收，投資節奏可依銷售進度調節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開發 → P1–P3 硬體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21408"/>
            <a:ext cx="10881360" cy="0"/>
          </a:xfrm>
          <a:prstGeom prst="line">
            <a:avLst/>
          </a:prstGeom>
          <a:noFill/>
          <a:ln w="20320">
            <a:solidFill>
              <a:srgbClr val="3A4F7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600200" y="1874520"/>
            <a:ext cx="493776" cy="493776"/>
          </a:xfrm>
          <a:prstGeom prst="ellipse">
            <a:avLst/>
          </a:prstGeom>
          <a:solidFill>
            <a:srgbClr val="69D6A8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P0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平台開發・客製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75488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即刻啟動・預售期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94944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品牌化客製・功能開發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雲端部署(Render/Vercel/LINE)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樣品屋示範組:平板+音箱+情境設備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4944" y="5212080"/>
            <a:ext cx="2304288" cy="0"/>
          </a:xfrm>
          <a:prstGeom prst="line">
            <a:avLst/>
          </a:prstGeom>
          <a:noFill/>
          <a:ln w="7620">
            <a:solidFill>
              <a:srgbClr val="69D6A8">
                <a:alpha val="6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94944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樣品屋實演語音預約→派單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53128" y="1874520"/>
            <a:ext cx="493776" cy="493776"/>
          </a:xfrm>
          <a:prstGeom prst="ellipse">
            <a:avLst/>
          </a:prstGeom>
          <a:solidFill>
            <a:srgbClr val="C9A35A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328416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基礎上線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3328416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工程期・交屋前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28416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547872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9584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路由/防火牆・PoE 網路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 + UPS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櫃檯平板・管理 Kiosk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47872" y="5212080"/>
            <a:ext cx="2304288" cy="0"/>
          </a:xfrm>
          <a:prstGeom prst="line">
            <a:avLst/>
          </a:prstGeom>
          <a:noFill/>
          <a:ln w="7620">
            <a:solidFill>
              <a:srgbClr val="C9A35A">
                <a:alpha val="60000"/>
              </a:srgbClr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547872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物業管理全功能營運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306056" y="1874520"/>
            <a:ext cx="493776" cy="493776"/>
          </a:xfrm>
          <a:prstGeom prst="ellipse">
            <a:avLst/>
          </a:prstGeom>
          <a:solidFill>
            <a:srgbClr val="6FB1FF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06056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P2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181344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智慧擴充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6181344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交屋・入住期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81344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0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82512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 QR 掃碼門禁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IoT + Nest 音箱/顯示器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公區 Wi-Fi 6E 覆蓋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5212080"/>
            <a:ext cx="2304288" cy="0"/>
          </a:xfrm>
          <a:prstGeom prst="line">
            <a:avLst/>
          </a:prstGeom>
          <a:noFill/>
          <a:ln w="7620">
            <a:solidFill>
              <a:srgbClr val="6FB1FF">
                <a:alpha val="60000"/>
              </a:srgbClr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400800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住戶智慧體驗上線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158984" y="1874520"/>
            <a:ext cx="493776" cy="493776"/>
          </a:xfrm>
          <a:prstGeom prst="ellipse">
            <a:avLst/>
          </a:prstGeom>
          <a:solidFill>
            <a:srgbClr val="E6CF9A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58984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P3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034272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旗艦完善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9034272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營運成熟期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034272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9253728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35440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車牌辨識・包裹櫃・電梯介接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 + PostgreSQL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UPS / 雙上聯備援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253728" y="5212080"/>
            <a:ext cx="2304288" cy="0"/>
          </a:xfrm>
          <a:prstGeom prst="line">
            <a:avLst/>
          </a:prstGeom>
          <a:noFill/>
          <a:ln w="7620">
            <a:solidFill>
              <a:srgbClr val="E6CF9A">
                <a:alpha val="60000"/>
              </a:srgbClr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9253728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全自動無感社區服務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66928" y="616305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Phase 0 以軟體開發為優先，硬體僅需樣品屋最小組（櫃檯平板＋智慧音箱）；Phase 1 起隨建案工程分批進場 —— 避免一次性重投資。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分階段導入路線圖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開發優先 · 每階段獨立驗收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0 · DEVELOPMENT 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　平台開發・客製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以軟體開發為優先 —— 樣品屋以最小硬體實演「語音預約 → 自動派單」全流程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即刻啟動・預售期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本階段投入（開發為主・樣品屋示範）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語音預約・派單實演(樣品屋)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對平板說一句話預約公設 → 系統自動建立派工單 —— 全流程功能已上線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6822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樣品屋示範組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2929128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 ×1(語音預約/派單) + Google Nest 音箱 ×1(語音裝置控制)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31622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樣品屋情境設備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563112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示範閘道 + 少量燈光/空調/窗簾實裝(或 DRY_RUN 乾跑展示)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395020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品牌化客製開發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197096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建案名稱/主視覺/公設清單/收費規則 —— 以現有平台為基底客製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45841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雲端環境部署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4831080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 + Vercel Web + LINE 官方帳號申請綁定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13232" y="521817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功能盤點與客製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2688" y="546506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依建案定位增修模組(門禁流程/停車規則/公設時段等)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樣品屋實演：「一句話預約公設 → 自動派單」完整流程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語音開關燈光・空調(Nest 裝置控制),智慧情境眼見為憑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預售期銷售現場互動展示,成交前先體驗入住後生活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建案官方 LINE 提前開通,經營潛在住戶客群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住戶名冊・帳務規則預建 + 管理後台先行試營運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最小硬體投入 —— 開發、行銷、預售同步推進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語音預約/派單由平板・App 麥克風管道提供(已上線);Google 音箱僅裝置控制 —— 樣品屋兩者並列展示、分工明確。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P0 平台開發・客製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1 · FOUNDATION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P1　基礎上線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社區網路與管理中樞就位 —— 物業管理全功能正式營運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工程期・交屋前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本階段投入（基礎硬體）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防火牆(VLAN)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/ 管理 / 訪客網段隔離,社區網路安全基礎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591671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PoE 網路交換器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2838559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8–24 埠,供電後續掃碼機 / 攝影機 / AP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13508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381974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無風扇工控機(N100/8GB/128GB),常駐 Gateway 服務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3678501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不斷電系統 UPS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3925389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≥600VA,保障中樞與網路斷電續航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4221915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4468803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吋以上 —— 語音代訂 + 管理後台操作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13232" y="476533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 Web Kiosk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2688" y="5012218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react-native-web 儀表板,櫃檯大螢幕一體機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713232" y="5308745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雲端方案升級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2688" y="5555633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Starter 持久磁碟(SQLite/PG),正式營運等級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公設預約・帳務・公告・工單・包裹・停車 全面營運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櫃檯語音代訂與自動派工上線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/ 簡訊 / App 推播多通道通知住戶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管理中心儀表板即時掌握社區動態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機房與 VLAN 就緒 —— Phase 2/3 設備即插即用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機房位置與弱電管線需於建案工程期預留(與建商土建併行),交屋前完成佈建與驗收。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P1 基礎上線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2 · SMART EXPANSION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　智慧擴充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門禁與住戶智慧設備進場 —— 住戶「智慧生活」體驗上線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交屋・入住期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本階段投入（智慧硬體）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 QR 掃碼門禁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 掃描器 + 電子鎖控制器(通行證 QR 已實作,接上即用)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809037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住戶智慧設備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055925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 —— 經閘道由住戶 App 控制(整合已上線)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56981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音箱 / 顯示器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816706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 Cloud-to-Cloud 語音裝置控制(已整合上線)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433059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Wifi Pro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577486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Mesh,公區與示範戶無線覆蓋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5091379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協定橋接模組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5338267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MQTT Broker + Modbus 閘道,對接實體設備廠牌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QR 通行證掃碼進出、訪客邀請通行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App 一鍵控制家中燈光・空調・窗簾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 Nest 音箱說一句話,開關燈光空調(裝置控制)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排程與情境模式(回家/離家/睡眠)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示範戶 → 標準配備:智慧宅成為交屋標配賣點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語音「預約公設」由 App / 櫃檯麥克風管道提供;Google 音箱僅做裝置控制 —— 分工明確、不誇大。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P2 智慧擴充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3 · FLAGSHIP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P3　旗艦完善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全自動無感服務與資料自主 —— 大型建案的旗艦級完成式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營運成熟期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E6CF9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本階段投入（旗艦硬體）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車牌辨識柵欄(LPR)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住戶車自動放行,訪客車連動登記(現為人工輸入)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6822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智能包裹櫃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2929128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到件自動通知・掃碼自助取件(現為櫃檯登記)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31622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電梯介接控制器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563112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乾接點 / BACnet —— 支援『電梯禮賓』呼梯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395020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Hub Max 公設看板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197096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吋大屏,公設迎賓 / 管理端資訊看板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45841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 + PostgreSQL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4831080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語意服務自架 + 資料庫升級,資料完全自主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13232" y="521817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備援與冗餘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2688" y="546506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UPS / 雙上聯,旗艦級可用性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車牌辨識自動放行 —— 進出零等待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包裹到件即推播,自助取件免排隊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電梯禮賓:通行證掃碼自動呼梯到府層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公設迎賓看板與管理端數據大屏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語意服務與資料庫自主部署,不依賴外部 AI 供應商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本階段全數為選配,可依社區營運需求逐項導入 —— 每一項都在既有閘道與網路基礎上疊加。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P3 旗艦完善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SECURITY &amp; 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資安與維運保障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資訊安全與長期維運是平台的一部分,不是附加選項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全面資安稽核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已完成・全數修復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550408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6656" y="1719072"/>
            <a:ext cx="457200" cy="457200"/>
          </a:xfrm>
          <a:prstGeom prst="ellipse">
            <a:avLst/>
          </a:prstGeom>
          <a:solidFill>
            <a:srgbClr val="0F1C33"/>
          </a:solidFill>
          <a:ln w="10160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33372"/>
            <a:ext cx="228600" cy="228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61872" y="1719072"/>
            <a:ext cx="4544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76656" y="2322576"/>
            <a:ext cx="511149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94944" y="2414016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權限分級控管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2660904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住戶/物業/管理員三級角色 —— 後台每項操作皆經授權驗證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694944" y="3105302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全面資安稽核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352190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已完成整體安全稽核,發現項目全數修復並部署上線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94944" y="3796589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加密與金鑰管理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14400" y="4043477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 HTTPS/TLS 加密;金鑰以環境變數管理,具輪替流程</a:t>
            </a:r>
            <a:endParaRPr lang="en-US" sz="980" dirty="0"/>
          </a:p>
        </p:txBody>
      </p:sp>
      <p:sp>
        <p:nvSpPr>
          <p:cNvPr id="18" name="Text 15"/>
          <p:cNvSpPr/>
          <p:nvPr/>
        </p:nvSpPr>
        <p:spPr>
          <a:xfrm>
            <a:off x="694944" y="4487875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網路分段隔離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14400" y="4734763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IoT/管理/訪客 VLAN 隔離(P1 佈建),設備不直通外網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694944" y="5179162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紀錄可追溯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14400" y="5426050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訊息與操作事件留存紀錄,異常行為可稽核回溯</a:t>
            </a:r>
            <a:endParaRPr lang="en-US" sz="980" dirty="0"/>
          </a:p>
        </p:txBody>
      </p:sp>
      <p:sp>
        <p:nvSpPr>
          <p:cNvPr id="22" name="Shape 19"/>
          <p:cNvSpPr/>
          <p:nvPr/>
        </p:nvSpPr>
        <p:spPr>
          <a:xfrm>
            <a:off x="6181344" y="1572768"/>
            <a:ext cx="5550408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0" y="1719072"/>
            <a:ext cx="457200" cy="457200"/>
          </a:xfrm>
          <a:prstGeom prst="ellipse">
            <a:avLst/>
          </a:prstGeom>
          <a:solidFill>
            <a:srgbClr val="0F1C33"/>
          </a:solidFill>
          <a:ln w="10160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1833372"/>
            <a:ext cx="228600" cy="2286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6986016" y="1719072"/>
            <a:ext cx="4544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維運保障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6400800" y="2322576"/>
            <a:ext cx="511149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7" name="Text 23"/>
          <p:cNvSpPr/>
          <p:nvPr/>
        </p:nvSpPr>
        <p:spPr>
          <a:xfrm>
            <a:off x="6419088" y="2414016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健康監控儀表板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6638544" y="2660904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通道流量/錯誤率即時監控,異常提前掌握</a:t>
            </a:r>
            <a:endParaRPr lang="en-US" sz="980" dirty="0"/>
          </a:p>
        </p:txBody>
      </p:sp>
      <p:sp>
        <p:nvSpPr>
          <p:cNvPr id="29" name="Text 25"/>
          <p:cNvSpPr/>
          <p:nvPr/>
        </p:nvSpPr>
        <p:spPr>
          <a:xfrm>
            <a:off x="6419088" y="3105302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不中斷更新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638544" y="3352190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雲端自動化部署 —— 功能迭代與修補不停機</a:t>
            </a:r>
            <a:endParaRPr lang="en-US" sz="980" dirty="0"/>
          </a:p>
        </p:txBody>
      </p:sp>
      <p:sp>
        <p:nvSpPr>
          <p:cNvPr id="31" name="Text 27"/>
          <p:cNvSpPr/>
          <p:nvPr/>
        </p:nvSpPr>
        <p:spPr>
          <a:xfrm>
            <a:off x="6419088" y="3796589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斷電・離線韌性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6638544" y="4043477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 UPS 續航;實體門禁獨立運作,平台恢復後資料補同步</a:t>
            </a:r>
            <a:endParaRPr lang="en-US" sz="980" dirty="0"/>
          </a:p>
        </p:txBody>
      </p:sp>
      <p:sp>
        <p:nvSpPr>
          <p:cNvPr id="33" name="Text 29"/>
          <p:cNvSpPr/>
          <p:nvPr/>
        </p:nvSpPr>
        <p:spPr>
          <a:xfrm>
            <a:off x="6419088" y="4487875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資料持久與自主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6638544" y="4734763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持久磁碟儲存;P3 可升級自架 PostgreSQL,資料完全落地</a:t>
            </a:r>
            <a:endParaRPr lang="en-US" sz="980" dirty="0"/>
          </a:p>
        </p:txBody>
      </p:sp>
      <p:sp>
        <p:nvSpPr>
          <p:cNvPr id="35" name="Text 31"/>
          <p:cNvSpPr/>
          <p:nvPr/>
        </p:nvSpPr>
        <p:spPr>
          <a:xfrm>
            <a:off x="6419088" y="5179162"/>
            <a:ext cx="5093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維運支援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638544" y="5426050"/>
            <a:ext cx="483717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平台方負責監控、版本更新與技術支援(見導入分工)</a:t>
            </a:r>
            <a:endParaRPr lang="en-US" sz="980" dirty="0"/>
          </a:p>
        </p:txBody>
      </p:sp>
      <p:sp>
        <p:nvSpPr>
          <p:cNvPr id="37" name="Text 33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資安稽核與修復為平台既有成果,非額外收費項目;VLAN 與 UPS 屬 Phase 1 基礎硬體。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資安與維運保障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安全是平台的一部分,不是附加選項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建商與管委會最常提出的六個疑問,一次說清楚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疑慮先回答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決策更安心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627632"/>
            <a:ext cx="3639312" cy="2121408"/>
          </a:xfrm>
          <a:prstGeom prst="roundRect">
            <a:avLst>
              <a:gd name="adj" fmla="val 474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1773936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外網斷線,社區會癱瘓嗎?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2395728"/>
            <a:ext cx="32369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76656" y="2487168"/>
            <a:ext cx="3200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門禁、柵欄等實體系統具獨立運作能力,平台離線不影響基本進出;機房 UPS 斷電續航,恢復後紀錄自動補同步。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270248" y="1627632"/>
            <a:ext cx="3639312" cy="2121408"/>
          </a:xfrm>
          <a:prstGeom prst="roundRect">
            <a:avLst>
              <a:gd name="adj" fmla="val 474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71416" y="1773936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資料是誰的?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71416" y="2395728"/>
            <a:ext cx="32369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489704" y="2487168"/>
            <a:ext cx="3200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資料歸屬建案/管委會。Phase 3 可自架語意服務與 PostgreSQL,資料與 AI 完全落地自主,不依賴外部供應商。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8083296" y="1627632"/>
            <a:ext cx="3639312" cy="2121408"/>
          </a:xfrm>
          <a:prstGeom prst="roundRect">
            <a:avLst>
              <a:gd name="adj" fmla="val 474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84464" y="1773936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換物業公司怎麼辦?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84464" y="2395728"/>
            <a:ext cx="32369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302752" y="2487168"/>
            <a:ext cx="3200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平台角色權限分級,移交即帳號交接 —— 住戶資料、帳務、工單流程完整留存於平台,營運不中斷。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457200" y="3913632"/>
            <a:ext cx="3639312" cy="2121408"/>
          </a:xfrm>
          <a:prstGeom prst="roundRect">
            <a:avLst>
              <a:gd name="adj" fmla="val 474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8368" y="4059936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會被特定硬體廠牌綁死嗎?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58368" y="4681728"/>
            <a:ext cx="32369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76656" y="4773168"/>
            <a:ext cx="3200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分層解耦架構:設備經標準協定(HTTP/MQTT/Modbus)接入閘道,單一設備可獨立替換,不牽動整套系統。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4270248" y="3913632"/>
            <a:ext cx="3639312" cy="2121408"/>
          </a:xfrm>
          <a:prstGeom prst="roundRect">
            <a:avLst>
              <a:gd name="adj" fmla="val 474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471416" y="4059936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住戶不會用怎麼辦?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471416" y="4681728"/>
            <a:ext cx="32369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489704" y="4773168"/>
            <a:ext cx="3200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免安裝即可綁定、接收通知與客服;App 承載進階功能,雙軌並行。導入期由平台方支援住戶教育訓練。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8083296" y="3913632"/>
            <a:ext cx="3639312" cy="2121408"/>
          </a:xfrm>
          <a:prstGeom prst="roundRect">
            <a:avLst>
              <a:gd name="adj" fmla="val 474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284464" y="4059936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後續維護費用怎麼算?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84464" y="4681728"/>
            <a:ext cx="32369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8302752" y="4773168"/>
            <a:ext cx="3200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雲端資源按階段升級、硬體分批投入,避免一次性重投資;維運與授權模式於報價單另行詳列。</a:t>
            </a:r>
            <a:endParaRPr lang="en-US" sz="1030" dirty="0"/>
          </a:p>
        </p:txBody>
      </p:sp>
      <p:sp>
        <p:nvSpPr>
          <p:cNvPr id="30" name="Text 28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其他技術與商務問題,歡迎於需求盤點會議提出 —— 我們以實際系統現況回答,不做誇大承諾。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常見問題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疑慮先回答 · 決策更安心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ROLES &amp; 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導入分工與下一步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建商・物業・平台方三方分工明確 —— 四步驟啟動導入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從開發啟動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到旗艦社區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3639312" cy="2615184"/>
          </a:xfrm>
          <a:prstGeom prst="roundRect">
            <a:avLst>
              <a:gd name="adj" fmla="val 3846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6656" y="1810512"/>
            <a:ext cx="566928" cy="56692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194767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81051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76656" y="2523744"/>
            <a:ext cx="3200400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731520" y="2633472"/>
            <a:ext cx="3127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工程期預留機房/弱電/管線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社區網路與佈線施作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硬體採購(依階段清單)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交屋流程與平台銜接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70248" y="1609344"/>
            <a:ext cx="3639312" cy="2615184"/>
          </a:xfrm>
          <a:prstGeom prst="roundRect">
            <a:avLst>
              <a:gd name="adj" fmla="val 3846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9704" y="1810512"/>
            <a:ext cx="566928" cy="56692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1947672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84648" y="181051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物業公司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489704" y="2523744"/>
            <a:ext cx="3200400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7" name="Text 13"/>
          <p:cNvSpPr/>
          <p:nvPr/>
        </p:nvSpPr>
        <p:spPr>
          <a:xfrm>
            <a:off x="4544568" y="2633472"/>
            <a:ext cx="3127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櫃檯日常營運與語音代訂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住戶教育訓練與導入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公設/包裹/工單現場管理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回饋需求,滾動優化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083296" y="1609344"/>
            <a:ext cx="3639312" cy="2615184"/>
          </a:xfrm>
          <a:prstGeom prst="roundRect">
            <a:avLst>
              <a:gd name="adj" fmla="val 3846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02752" y="1810512"/>
            <a:ext cx="566928" cy="56692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1947672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997696" y="181051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平台方(我們)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302752" y="2523744"/>
            <a:ext cx="3200400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3" name="Text 18"/>
          <p:cNvSpPr/>
          <p:nvPr/>
        </p:nvSpPr>
        <p:spPr>
          <a:xfrm>
            <a:off x="8357616" y="2633472"/>
            <a:ext cx="3127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軟體平台開發與品牌客製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系統整合與硬體對接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雲端部署與維運監控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技術支援與版本更新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6692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74980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需求盤點・客製開發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啟動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3163824" y="4517136"/>
            <a:ext cx="320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35A"/>
                </a:solidFill>
              </a:rPr>
              <a:t>→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344728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363016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網路機房佈建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工程期併行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044184" y="4517136"/>
            <a:ext cx="320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35A"/>
                </a:solidFill>
              </a:rPr>
              <a:t>→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32764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651052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硬體整合部署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2/3 分批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8924544" y="4517136"/>
            <a:ext cx="320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35A"/>
                </a:solidFill>
              </a:rPr>
              <a:t>→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920800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4" name="Text 29"/>
          <p:cNvSpPr/>
          <p:nvPr/>
        </p:nvSpPr>
        <p:spPr>
          <a:xfrm>
            <a:off x="939088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驗收培訓・上線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逐階段交付</a:t>
            </a:r>
            <a:endParaRPr lang="en-US" sz="1500" dirty="0"/>
          </a:p>
        </p:txBody>
      </p:sp>
      <p:sp>
        <p:nvSpPr>
          <p:cNvPr id="35" name="Text 30"/>
          <p:cNvSpPr/>
          <p:nvPr/>
        </p:nvSpPr>
        <p:spPr>
          <a:xfrm>
            <a:off x="0" y="5760720"/>
            <a:ext cx="12191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同一套平台，從預售接待中心到旗艦社區 —— 開發優先啟動，硬體隨建案成長分批就位。</a:t>
            </a:r>
            <a:endParaRPr lang="en-US" sz="1400" dirty="0"/>
          </a:p>
        </p:txBody>
      </p:sp>
      <p:sp>
        <p:nvSpPr>
          <p:cNvPr id="36" name="Text 3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導入分工與下一步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開發 → P1 基礎 → P2 智慧 → P3 旗艦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系統方案規劃書</dc:title>
  <dc:subject>PptxGenJS Presentation</dc:subject>
  <dc:creator>智慧住宅管理平台</dc:creator>
  <cp:lastModifiedBy>智慧住宅管理平台</cp:lastModifiedBy>
  <cp:revision>1</cp:revision>
  <dcterms:created xsi:type="dcterms:W3CDTF">2026-07-21T07:43:28Z</dcterms:created>
  <dcterms:modified xsi:type="dcterms:W3CDTF">2026-07-21T07:43:28Z</dcterms:modified>
</cp:coreProperties>
</file>