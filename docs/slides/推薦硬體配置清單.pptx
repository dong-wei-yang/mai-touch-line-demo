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298448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249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RECOMMENDED HARDWARE CONFIGURATION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推薦硬體配置清單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632704" y="4133088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從雲端到終端，一次配齊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175504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 × 網路基礎 × 公設門禁 × 住戶智慧 × 管理終端 × 雲端服務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配置分級對應實際程式整合現況：已整合上線 · 建議必備 · 選配待接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SYSTEM HARDWARE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五層硬體架構：從雲端指令到終端執行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App 不直接對接設備 —— 指令經『邊緣閘道』下發，設備狀態逐層回報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雲 → 端 · 分層解耦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627632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755648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883664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72768" y="1627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雲端與服務層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 &amp; Services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270248" y="1627632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 · Vercel Web · LINE OA · Twilio SMS · Gemini · FastAPI NLP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96696" y="241401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2578608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66928" y="2578608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2960" y="2706624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834640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72768" y="25786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管理終端層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Terminals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270248" y="2578608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 · 管理中心 Web Kiosk · 住戶手機 App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996696" y="33649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3529584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66928" y="3529584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2" name="Shape 18"/>
          <p:cNvSpPr/>
          <p:nvPr/>
        </p:nvSpPr>
        <p:spPr>
          <a:xfrm>
            <a:off x="822960" y="3657600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785616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572768" y="35295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4270248" y="3529584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防火牆(VLAN) · PoE 交換器 · Wi-Fi 6E(Nest Wifi Pro)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996696" y="43159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66928" y="4480560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66928" y="448056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9" name="Shape 24"/>
          <p:cNvSpPr/>
          <p:nvPr/>
        </p:nvSpPr>
        <p:spPr>
          <a:xfrm>
            <a:off x="822960" y="4608576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736592"/>
            <a:ext cx="310896" cy="31089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572768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 Gateway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4270248" y="4480560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工控閘道主機 · HTTP(已通) / MQTT · Modbus 橋接 · UPS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996696" y="526694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66928" y="5431536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566928" y="5431536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36" name="Shape 30"/>
          <p:cNvSpPr/>
          <p:nvPr/>
        </p:nvSpPr>
        <p:spPr>
          <a:xfrm>
            <a:off x="822960" y="5559552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5687568"/>
            <a:ext cx="310896" cy="31089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572768" y="543153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Devices</a:t>
            </a:r>
            <a:endParaRPr lang="en-US" sz="1500" dirty="0"/>
          </a:p>
        </p:txBody>
      </p:sp>
      <p:sp>
        <p:nvSpPr>
          <p:cNvPr id="39" name="Text 32"/>
          <p:cNvSpPr/>
          <p:nvPr/>
        </p:nvSpPr>
        <p:spPr>
          <a:xfrm>
            <a:off x="4270248" y="5431536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 · Nest 音箱/顯示器 · 門禁/電梯/柵欄/包裹櫃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11018520" y="1810512"/>
            <a:ext cx="0" cy="4261104"/>
          </a:xfrm>
          <a:prstGeom prst="line">
            <a:avLst/>
          </a:prstGeom>
          <a:noFill/>
          <a:ln w="17780">
            <a:solidFill>
              <a:srgbClr val="3A4F73"/>
            </a:solidFill>
            <a:prstDash val="dash"/>
            <a:headEnd type="triangle"/>
            <a:tailEnd type="triangle"/>
          </a:ln>
        </p:spPr>
      </p:sp>
      <p:sp>
        <p:nvSpPr>
          <p:cNvPr id="41" name="Text 34"/>
          <p:cNvSpPr/>
          <p:nvPr/>
        </p:nvSpPr>
        <p:spPr>
          <a:xfrm>
            <a:off x="11073384" y="185623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指令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下行</a:t>
            </a:r>
            <a:endParaRPr lang="en-US" sz="1050" dirty="0"/>
          </a:p>
        </p:txBody>
      </p:sp>
      <p:sp>
        <p:nvSpPr>
          <p:cNvPr id="42" name="Text 35"/>
          <p:cNvSpPr/>
          <p:nvPr/>
        </p:nvSpPr>
        <p:spPr>
          <a:xfrm>
            <a:off x="11073384" y="538581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</a:t>
            </a:r>
            <a:endParaRPr lang="en-US" sz="1050" dirty="0"/>
          </a:p>
        </p:txBody>
      </p:sp>
      <p:sp>
        <p:nvSpPr>
          <p:cNvPr id="43" name="Text 36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44" name="Text 3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五層硬體架構</a:t>
            </a:r>
            <a:endParaRPr lang="en-US" sz="1050" dirty="0"/>
          </a:p>
        </p:txBody>
      </p:sp>
      <p:sp>
        <p:nvSpPr>
          <p:cNvPr id="45" name="Text 38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分層解耦：任一層可獨立擴充或替換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GOOGLE NEST ECOSYSTEM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 Google Nest 智慧生態系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國際級硬體品質，以 Google 官方 Cloud-to-Cloud 標準串接，語音裝置控制已完成整合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國際品牌背書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Google Nest 全系列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11274552" cy="786384"/>
          </a:xfrm>
          <a:prstGeom prst="roundRect">
            <a:avLst>
              <a:gd name="adj" fmla="val 11628"/>
            </a:avLst>
          </a:prstGeom>
          <a:solidFill>
            <a:srgbClr val="10241D">
              <a:alpha val="92000"/>
            </a:srgbClr>
          </a:solidFill>
          <a:ln w="12700">
            <a:solidFill>
              <a:srgbClr val="69D6A8">
                <a:alpha val="70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36192"/>
            <a:ext cx="82296" cy="786384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664208"/>
            <a:ext cx="530352" cy="530352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92224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6459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已整合上線　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官方 Cloud-to-Cloud 標準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4173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SYNC · QUERY · EXECUTE 語音裝置控制 —— 對 Nest 音箱／顯示器說一句話即可開關燈光・空調・窗簾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601200" y="162763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僅『裝置控制』
</a:t>
            </a:r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語音預約由平台自建麥克風管道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926080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81328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Mini / Audio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481328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智能音箱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4944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713232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語音開關燈光・空調・窗簾(Cloud-to-Cloud)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334256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53712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926080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58384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358384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智能顯示器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0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6" name="Text 21"/>
          <p:cNvSpPr/>
          <p:nvPr/>
        </p:nvSpPr>
        <p:spPr>
          <a:xfrm>
            <a:off x="4590288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吋觸控 + 語音,可視化住戶控制面板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8211312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430768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2926080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35440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 Max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9235440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大屏 + 視訊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449056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3" name="Text 27"/>
          <p:cNvSpPr/>
          <p:nvPr/>
        </p:nvSpPr>
        <p:spPr>
          <a:xfrm>
            <a:off x="8467344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吋,公設迎賓 / 管理端資訊看板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457200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676656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828032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481328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Wifi Pro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1481328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Mesh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694944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713232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對應網路層,社區全區無線覆蓋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4334256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4553712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8304" y="4828032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5358384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Cam / Doorbell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5358384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影像門禁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4572000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7" name="Text 39"/>
          <p:cNvSpPr/>
          <p:nvPr/>
        </p:nvSpPr>
        <p:spPr>
          <a:xfrm>
            <a:off x="4590288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門口 / 公區影像,對接門禁層</a:t>
            </a:r>
            <a:endParaRPr lang="en-US" sz="950" dirty="0"/>
          </a:p>
        </p:txBody>
      </p:sp>
      <p:sp>
        <p:nvSpPr>
          <p:cNvPr id="48" name="Shape 40"/>
          <p:cNvSpPr/>
          <p:nvPr/>
        </p:nvSpPr>
        <p:spPr>
          <a:xfrm>
            <a:off x="8211312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9" name="Shape 41"/>
          <p:cNvSpPr/>
          <p:nvPr/>
        </p:nvSpPr>
        <p:spPr>
          <a:xfrm>
            <a:off x="8430768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4828032"/>
            <a:ext cx="329184" cy="329184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9235440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Thermostat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9235440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智能溫控</a:t>
            </a:r>
            <a:endParaRPr lang="en-US" sz="1000" dirty="0"/>
          </a:p>
        </p:txBody>
      </p:sp>
      <p:sp>
        <p:nvSpPr>
          <p:cNvPr id="53" name="Shape 44"/>
          <p:cNvSpPr/>
          <p:nvPr/>
        </p:nvSpPr>
        <p:spPr>
          <a:xfrm>
            <a:off x="8449056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4" name="Text 45"/>
          <p:cNvSpPr/>
          <p:nvPr/>
        </p:nvSpPr>
        <p:spPr>
          <a:xfrm>
            <a:off x="8467344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空調節能控制,連動 IoT 排程</a:t>
            </a:r>
            <a:endParaRPr lang="en-US" sz="950" dirty="0"/>
          </a:p>
        </p:txBody>
      </p:sp>
      <p:sp>
        <p:nvSpPr>
          <p:cNvPr id="55" name="Text 46"/>
          <p:cNvSpPr/>
          <p:nvPr/>
        </p:nvSpPr>
        <p:spPr>
          <a:xfrm>
            <a:off x="457200" y="616305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Nest 音箱／顯示器的語音裝置控制經 Google 官方 Cloud-to-Cloud 標準整合；其餘 Nest 硬體為建議選配的同生態系設備,非既有程式整合。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57" name="Text 4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Google Nest 生態系</a:t>
            </a:r>
            <a:endParaRPr lang="en-US" sz="1050" dirty="0"/>
          </a:p>
        </p:txBody>
      </p:sp>
      <p:sp>
        <p:nvSpPr>
          <p:cNvPr id="58" name="Text 49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官方標準整合 · 國際級硬體品質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HARDWARE CHECKLIST BY ZONE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分區推薦硬體清單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六大區塊逐項列出建議設備、規格與整合狀態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涵蓋六大區塊
</a:t>
            </a:r>
            <a:pPr algn="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E6CF9A"/>
                </a:solidFill>
              </a:rPr>
              <a:t>中樞 · 網路 · 公設 · 住戶 · 管理 · 雲端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83794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社區中樞・邊緣閘道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 Gateway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58368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59536" y="257860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無風扇工控機(N100/8GB/128GB),常駐 Gateway 服務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658368" y="27249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硬體閘道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59536" y="294436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經 x-api-key 下發:光/空調/窗簾/安防/影音/電源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658368" y="309067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59536" y="331012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 Broker + Modbus 閘道(現為 stub,待接實體設備)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58368" y="34564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不斷電系統 UPS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59536" y="367588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≥600VA,保障中樞與網路斷電續航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334256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17136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837944"/>
            <a:ext cx="256032" cy="2560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084064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網路基礎建設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Network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535424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5" name="Text 21"/>
          <p:cNvSpPr/>
          <p:nvPr/>
        </p:nvSpPr>
        <p:spPr>
          <a:xfrm>
            <a:off x="4535424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736592" y="257860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 VLAN 分流:IoT / 管理 / 訪客網段隔離</a:t>
            </a:r>
            <a:endParaRPr lang="en-US" sz="830" dirty="0"/>
          </a:p>
        </p:txBody>
      </p:sp>
      <p:sp>
        <p:nvSpPr>
          <p:cNvPr id="27" name="Text 23"/>
          <p:cNvSpPr/>
          <p:nvPr/>
        </p:nvSpPr>
        <p:spPr>
          <a:xfrm>
            <a:off x="4535424" y="28468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網路交換器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4736592" y="306628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8–24 埠,供電掃碼機 / 攝影機 / AP</a:t>
            </a:r>
            <a:endParaRPr lang="en-US" sz="830" dirty="0"/>
          </a:p>
        </p:txBody>
      </p:sp>
      <p:sp>
        <p:nvSpPr>
          <p:cNvPr id="29" name="Text 25"/>
          <p:cNvSpPr/>
          <p:nvPr/>
        </p:nvSpPr>
        <p:spPr>
          <a:xfrm>
            <a:off x="4535424" y="33345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無線 AP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736592" y="355396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公區覆蓋(建議 Google Nest Wifi Pro)</a:t>
            </a:r>
            <a:endParaRPr lang="en-US" sz="830" dirty="0"/>
          </a:p>
        </p:txBody>
      </p:sp>
      <p:sp>
        <p:nvSpPr>
          <p:cNvPr id="31" name="Shape 27"/>
          <p:cNvSpPr/>
          <p:nvPr/>
        </p:nvSpPr>
        <p:spPr>
          <a:xfrm>
            <a:off x="8211312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94192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4776" y="1837944"/>
            <a:ext cx="256032" cy="25603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961120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公共設備・門禁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Amenity &amp; Access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8412480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6" name="Text 31"/>
          <p:cNvSpPr/>
          <p:nvPr/>
        </p:nvSpPr>
        <p:spPr>
          <a:xfrm>
            <a:off x="8412480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大廳掃碼門禁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613648" y="257860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掃描器 + 電子鎖控制器(通行證 QR 已實作,現模擬掃描)</a:t>
            </a:r>
            <a:endParaRPr lang="en-US" sz="830" dirty="0"/>
          </a:p>
        </p:txBody>
      </p:sp>
      <p:sp>
        <p:nvSpPr>
          <p:cNvPr id="38" name="Text 33"/>
          <p:cNvSpPr/>
          <p:nvPr/>
        </p:nvSpPr>
        <p:spPr>
          <a:xfrm>
            <a:off x="8412480" y="27249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車道柵欄 + 車牌辨識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8613648" y="294436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停車現為人工輸入車牌,LPR 可自動放行</a:t>
            </a:r>
            <a:endParaRPr lang="en-US" sz="830" dirty="0"/>
          </a:p>
        </p:txBody>
      </p:sp>
      <p:sp>
        <p:nvSpPr>
          <p:cNvPr id="40" name="Text 35"/>
          <p:cNvSpPr/>
          <p:nvPr/>
        </p:nvSpPr>
        <p:spPr>
          <a:xfrm>
            <a:off x="8412480" y="309067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41" name="Text 36"/>
          <p:cNvSpPr/>
          <p:nvPr/>
        </p:nvSpPr>
        <p:spPr>
          <a:xfrm>
            <a:off x="8613648" y="331012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包裹位置現為文字欄位,智能櫃可自動通知取件</a:t>
            </a:r>
            <a:endParaRPr lang="en-US" sz="830" dirty="0"/>
          </a:p>
        </p:txBody>
      </p:sp>
      <p:sp>
        <p:nvSpPr>
          <p:cNvPr id="42" name="Text 37"/>
          <p:cNvSpPr/>
          <p:nvPr/>
        </p:nvSpPr>
        <p:spPr>
          <a:xfrm>
            <a:off x="8412480" y="34564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8613648" y="367588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 / BACnet,支援『電梯禮賓』呼梯</a:t>
            </a:r>
            <a:endParaRPr lang="en-US" sz="830" dirty="0"/>
          </a:p>
        </p:txBody>
      </p:sp>
      <p:sp>
        <p:nvSpPr>
          <p:cNvPr id="44" name="Shape 39"/>
          <p:cNvSpPr/>
          <p:nvPr/>
        </p:nvSpPr>
        <p:spPr>
          <a:xfrm>
            <a:off x="457200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640080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288536"/>
            <a:ext cx="256032" cy="256032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1207008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住戶端智慧設備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In-home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58368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9" name="Text 43"/>
          <p:cNvSpPr/>
          <p:nvPr/>
        </p:nvSpPr>
        <p:spPr>
          <a:xfrm>
            <a:off x="658368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音箱 / 顯示器</a:t>
            </a:r>
            <a:endParaRPr lang="en-US" sz="1000" dirty="0"/>
          </a:p>
        </p:txBody>
      </p:sp>
      <p:sp>
        <p:nvSpPr>
          <p:cNvPr id="50" name="Text 44"/>
          <p:cNvSpPr/>
          <p:nvPr/>
        </p:nvSpPr>
        <p:spPr>
          <a:xfrm>
            <a:off x="859536" y="502920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Cloud-to-Cloud 語音『開關』控制(僅裝置控制,非語音預約)</a:t>
            </a:r>
            <a:endParaRPr lang="en-US" sz="830" dirty="0"/>
          </a:p>
        </p:txBody>
      </p:sp>
      <p:sp>
        <p:nvSpPr>
          <p:cNvPr id="51" name="Text 45"/>
          <p:cNvSpPr/>
          <p:nvPr/>
        </p:nvSpPr>
        <p:spPr>
          <a:xfrm>
            <a:off x="658368" y="52974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住戶智慧設備</a:t>
            </a:r>
            <a:endParaRPr lang="en-US" sz="1000" dirty="0"/>
          </a:p>
        </p:txBody>
      </p:sp>
      <p:sp>
        <p:nvSpPr>
          <p:cNvPr id="52" name="Text 46"/>
          <p:cNvSpPr/>
          <p:nvPr/>
        </p:nvSpPr>
        <p:spPr>
          <a:xfrm>
            <a:off x="859536" y="551688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光/空調/窗簾/安防,經閘道由住戶 App 控制</a:t>
            </a:r>
            <a:endParaRPr lang="en-US" sz="830" dirty="0"/>
          </a:p>
        </p:txBody>
      </p:sp>
      <p:sp>
        <p:nvSpPr>
          <p:cNvPr id="53" name="Text 47"/>
          <p:cNvSpPr/>
          <p:nvPr/>
        </p:nvSpPr>
        <p:spPr>
          <a:xfrm>
            <a:off x="658368" y="57851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住戶智慧型手機</a:t>
            </a:r>
            <a:endParaRPr lang="en-US" sz="1000" dirty="0"/>
          </a:p>
        </p:txBody>
      </p:sp>
      <p:sp>
        <p:nvSpPr>
          <p:cNvPr id="54" name="Text 48"/>
          <p:cNvSpPr/>
          <p:nvPr/>
        </p:nvSpPr>
        <p:spPr>
          <a:xfrm>
            <a:off x="859536" y="600456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主要用戶端(iOS/Android),語音預約麥克風;自備</a:t>
            </a:r>
            <a:endParaRPr lang="en-US" sz="830" dirty="0"/>
          </a:p>
        </p:txBody>
      </p:sp>
      <p:sp>
        <p:nvSpPr>
          <p:cNvPr id="55" name="Shape 49"/>
          <p:cNvSpPr/>
          <p:nvPr/>
        </p:nvSpPr>
        <p:spPr>
          <a:xfrm>
            <a:off x="4334256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56" name="Shape 50"/>
          <p:cNvSpPr/>
          <p:nvPr/>
        </p:nvSpPr>
        <p:spPr>
          <a:xfrm>
            <a:off x="4517136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288536"/>
            <a:ext cx="256032" cy="256032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5084064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管理與終端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Terminals</a:t>
            </a:r>
            <a:endParaRPr lang="en-US" sz="1300" dirty="0"/>
          </a:p>
        </p:txBody>
      </p:sp>
      <p:sp>
        <p:nvSpPr>
          <p:cNvPr id="59" name="Shape 52"/>
          <p:cNvSpPr/>
          <p:nvPr/>
        </p:nvSpPr>
        <p:spPr>
          <a:xfrm>
            <a:off x="4535424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60" name="Text 53"/>
          <p:cNvSpPr/>
          <p:nvPr/>
        </p:nvSpPr>
        <p:spPr>
          <a:xfrm>
            <a:off x="4535424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4736592" y="502920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吋以上,語音代訂 + 管理後台</a:t>
            </a:r>
            <a:endParaRPr lang="en-US" sz="830" dirty="0"/>
          </a:p>
        </p:txBody>
      </p:sp>
      <p:sp>
        <p:nvSpPr>
          <p:cNvPr id="62" name="Text 55"/>
          <p:cNvSpPr/>
          <p:nvPr/>
        </p:nvSpPr>
        <p:spPr>
          <a:xfrm>
            <a:off x="4535424" y="52974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 Web Kiosk</a:t>
            </a:r>
            <a:endParaRPr lang="en-US" sz="1000" dirty="0"/>
          </a:p>
        </p:txBody>
      </p:sp>
      <p:sp>
        <p:nvSpPr>
          <p:cNvPr id="63" name="Text 56"/>
          <p:cNvSpPr/>
          <p:nvPr/>
        </p:nvSpPr>
        <p:spPr>
          <a:xfrm>
            <a:off x="4736592" y="551688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react-native-web 儀表板,櫃檯大螢幕一體機</a:t>
            </a:r>
            <a:endParaRPr lang="en-US" sz="830" dirty="0"/>
          </a:p>
        </p:txBody>
      </p:sp>
      <p:sp>
        <p:nvSpPr>
          <p:cNvPr id="64" name="Text 57"/>
          <p:cNvSpPr/>
          <p:nvPr/>
        </p:nvSpPr>
        <p:spPr>
          <a:xfrm>
            <a:off x="4535424" y="57851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派工人員行動裝置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4736592" y="600456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 / 維修手機,接收 LINE・推播派工單</a:t>
            </a:r>
            <a:endParaRPr lang="en-US" sz="830" dirty="0"/>
          </a:p>
        </p:txBody>
      </p:sp>
      <p:sp>
        <p:nvSpPr>
          <p:cNvPr id="66" name="Shape 59"/>
          <p:cNvSpPr/>
          <p:nvPr/>
        </p:nvSpPr>
        <p:spPr>
          <a:xfrm>
            <a:off x="8211312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67" name="Shape 60"/>
          <p:cNvSpPr/>
          <p:nvPr/>
        </p:nvSpPr>
        <p:spPr>
          <a:xfrm>
            <a:off x="8394192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6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288536"/>
            <a:ext cx="256032" cy="256032"/>
          </a:xfrm>
          <a:prstGeom prst="rect">
            <a:avLst/>
          </a:prstGeom>
        </p:spPr>
      </p:pic>
      <p:sp>
        <p:nvSpPr>
          <p:cNvPr id="69" name="Text 61"/>
          <p:cNvSpPr/>
          <p:nvPr/>
        </p:nvSpPr>
        <p:spPr>
          <a:xfrm>
            <a:off x="8961120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雲端與服務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 &amp; Services</a:t>
            </a:r>
            <a:endParaRPr lang="en-US" sz="1300" dirty="0"/>
          </a:p>
        </p:txBody>
      </p:sp>
      <p:sp>
        <p:nvSpPr>
          <p:cNvPr id="70" name="Shape 62"/>
          <p:cNvSpPr/>
          <p:nvPr/>
        </p:nvSpPr>
        <p:spPr>
          <a:xfrm>
            <a:off x="8412480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71" name="Text 63"/>
          <p:cNvSpPr/>
          <p:nvPr/>
        </p:nvSpPr>
        <p:spPr>
          <a:xfrm>
            <a:off x="8412480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後端主機(Render)</a:t>
            </a:r>
            <a:endParaRPr lang="en-US" sz="1000" dirty="0"/>
          </a:p>
        </p:txBody>
      </p:sp>
      <p:sp>
        <p:nvSpPr>
          <p:cNvPr id="72" name="Text 64"/>
          <p:cNvSpPr/>
          <p:nvPr/>
        </p:nvSpPr>
        <p:spPr>
          <a:xfrm>
            <a:off x="8613648" y="502920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Node/tRPC;建議 Starter+ 含持久磁碟(SQLite/PG)</a:t>
            </a:r>
            <a:endParaRPr lang="en-US" sz="830" dirty="0"/>
          </a:p>
        </p:txBody>
      </p:sp>
      <p:sp>
        <p:nvSpPr>
          <p:cNvPr id="73" name="Text 65"/>
          <p:cNvSpPr/>
          <p:nvPr/>
        </p:nvSpPr>
        <p:spPr>
          <a:xfrm>
            <a:off x="8412480" y="51755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前端(Vercel)</a:t>
            </a:r>
            <a:endParaRPr lang="en-US" sz="1000" dirty="0"/>
          </a:p>
        </p:txBody>
      </p:sp>
      <p:sp>
        <p:nvSpPr>
          <p:cNvPr id="74" name="Text 66"/>
          <p:cNvSpPr/>
          <p:nvPr/>
        </p:nvSpPr>
        <p:spPr>
          <a:xfrm>
            <a:off x="8613648" y="539496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Expo Router web build</a:t>
            </a:r>
            <a:endParaRPr lang="en-US" sz="830" dirty="0"/>
          </a:p>
        </p:txBody>
      </p:sp>
      <p:sp>
        <p:nvSpPr>
          <p:cNvPr id="75" name="Text 67"/>
          <p:cNvSpPr/>
          <p:nvPr/>
        </p:nvSpPr>
        <p:spPr>
          <a:xfrm>
            <a:off x="8412480" y="554126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訊息通道</a:t>
            </a:r>
            <a:endParaRPr lang="en-US" sz="1000" dirty="0"/>
          </a:p>
        </p:txBody>
      </p:sp>
      <p:sp>
        <p:nvSpPr>
          <p:cNvPr id="76" name="Text 68"/>
          <p:cNvSpPr/>
          <p:nvPr/>
        </p:nvSpPr>
        <p:spPr>
          <a:xfrm>
            <a:off x="8613648" y="576072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OA · Twilio SMS · SMTP · Expo 推播</a:t>
            </a:r>
            <a:endParaRPr lang="en-US" sz="830" dirty="0"/>
          </a:p>
        </p:txBody>
      </p:sp>
      <p:sp>
        <p:nvSpPr>
          <p:cNvPr id="77" name="Text 69"/>
          <p:cNvSpPr/>
          <p:nvPr/>
        </p:nvSpPr>
        <p:spPr>
          <a:xfrm>
            <a:off x="8412480" y="59070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NLP 服務(FastAPI)</a:t>
            </a:r>
            <a:endParaRPr lang="en-US" sz="1000" dirty="0"/>
          </a:p>
        </p:txBody>
      </p:sp>
      <p:sp>
        <p:nvSpPr>
          <p:cNvPr id="78" name="Text 70"/>
          <p:cNvSpPr/>
          <p:nvPr/>
        </p:nvSpPr>
        <p:spPr>
          <a:xfrm>
            <a:off x="8613648" y="612648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100+ 模型自架(選配),現以 Gemini 代理</a:t>
            </a:r>
            <a:endParaRPr lang="en-US" sz="830" dirty="0"/>
          </a:p>
        </p:txBody>
      </p:sp>
      <p:sp>
        <p:nvSpPr>
          <p:cNvPr id="79" name="Text 7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分區明細</a:t>
            </a:r>
            <a:endParaRPr lang="en-US" sz="1050" dirty="0"/>
          </a:p>
        </p:txBody>
      </p:sp>
      <p:sp>
        <p:nvSpPr>
          <p:cNvPr id="80" name="Text 7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狀態依實際程式整合現況標註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DEPLOYMENT TIERS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三級部署方案：依規模逐級擴充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從接待中心示範，到單棟上線，再到多棟大型建案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同一平台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三種硬體規模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12203A">
              <a:alpha val="82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47672" y="2011680"/>
            <a:ext cx="804672" cy="804672"/>
          </a:xfrm>
          <a:prstGeom prst="ellipse">
            <a:avLst/>
          </a:prstGeom>
          <a:solidFill>
            <a:srgbClr val="0F1C33"/>
          </a:solidFill>
          <a:ln w="12700">
            <a:solidFill>
              <a:srgbClr val="6FB1FF">
                <a:alpha val="75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52" y="2194560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28895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體驗版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66928" y="33467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PoC · 示範驗證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24128" y="3675888"/>
            <a:ext cx="2651760" cy="0"/>
          </a:xfrm>
          <a:prstGeom prst="line">
            <a:avLst/>
          </a:prstGeom>
          <a:noFill/>
          <a:ln w="6350">
            <a:solidFill>
              <a:srgbClr val="C9A35A">
                <a:alpha val="5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896112" y="3803904"/>
            <a:ext cx="29992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現有雲端:Render Free + Vercel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 ×1 + 住戶手機 App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示範閘道 ×1(或 DRY_RUN 乾跑)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少量燈光 / 空調示範設備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音箱 ×1(裝置控制)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5431536"/>
            <a:ext cx="3054096" cy="384048"/>
          </a:xfrm>
          <a:prstGeom prst="roundRect">
            <a:avLst>
              <a:gd name="adj" fmla="val 19048"/>
            </a:avLst>
          </a:prstGeom>
          <a:solidFill>
            <a:srgbClr val="0E1A30">
              <a:alpha val="90000"/>
            </a:srgbClr>
          </a:solidFill>
          <a:ln w="9525">
            <a:solidFill>
              <a:srgbClr val="6FB1FF">
                <a:alpha val="5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5431536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適用　</a:t>
            </a:r>
            <a:pPr algn="ctr" indent="0" marL="0"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接待中心 · 樣品屋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379976" y="1700784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12203A">
              <a:alpha val="82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0" y="2011680"/>
            <a:ext cx="804672" cy="804672"/>
          </a:xfrm>
          <a:prstGeom prst="ellipse">
            <a:avLst/>
          </a:prstGeom>
          <a:solidFill>
            <a:srgbClr val="0F1C33"/>
          </a:solidFill>
          <a:ln w="12700">
            <a:solidFill>
              <a:srgbClr val="C9A35A">
                <a:alpha val="75000"/>
              </a:srgbClr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194560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379976" y="28895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標準版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4379976" y="33467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Standard · 單棟上線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837176" y="3675888"/>
            <a:ext cx="2651760" cy="0"/>
          </a:xfrm>
          <a:prstGeom prst="line">
            <a:avLst/>
          </a:prstGeom>
          <a:noFill/>
          <a:ln w="6350">
            <a:solidFill>
              <a:srgbClr val="C9A35A">
                <a:alpha val="50000"/>
              </a:srgbClr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4709160" y="3803904"/>
            <a:ext cx="29992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 + UPS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網路:路由/防火牆 · PoE · AP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大廳掃碼門禁 + 電梯介接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IoT(光/空調/窗簾)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雲端升級:Render Starter(持久碟)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636008" y="5431536"/>
            <a:ext cx="3054096" cy="384048"/>
          </a:xfrm>
          <a:prstGeom prst="roundRect">
            <a:avLst>
              <a:gd name="adj" fmla="val 19048"/>
            </a:avLst>
          </a:prstGeom>
          <a:solidFill>
            <a:srgbClr val="0E1A30">
              <a:alpha val="90000"/>
            </a:srgbClr>
          </a:solidFill>
          <a:ln w="9525">
            <a:solidFill>
              <a:srgbClr val="C9A35A">
                <a:alpha val="55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636008" y="5431536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適用　</a:t>
            </a:r>
            <a:pPr algn="ctr" indent="0" marL="0"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單棟社區正式營運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193024" y="1700784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1A2942">
              <a:alpha val="94000"/>
            </a:srgbClr>
          </a:solidFill>
          <a:ln w="17780">
            <a:solidFill>
              <a:srgbClr val="C9A35A">
                <a:alpha val="80000"/>
              </a:srgbClr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573768" y="2011680"/>
            <a:ext cx="804672" cy="804672"/>
          </a:xfrm>
          <a:prstGeom prst="ellipse">
            <a:avLst/>
          </a:prstGeom>
          <a:solidFill>
            <a:srgbClr val="0F1C33"/>
          </a:solidFill>
          <a:ln w="12700">
            <a:solidFill>
              <a:srgbClr val="C9A35A">
                <a:alpha val="75000"/>
              </a:srgbClr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2194560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193024" y="28895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旗艦版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8193024" y="33467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Flagship · 多棟旗艦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8650224" y="3675888"/>
            <a:ext cx="2651760" cy="0"/>
          </a:xfrm>
          <a:prstGeom prst="line">
            <a:avLst/>
          </a:prstGeom>
          <a:noFill/>
          <a:ln w="6350">
            <a:solidFill>
              <a:srgbClr val="C9A35A">
                <a:alpha val="50000"/>
              </a:srgbClr>
            </a:solidFill>
            <a:prstDash val="dash"/>
          </a:ln>
        </p:spPr>
      </p:sp>
      <p:sp>
        <p:nvSpPr>
          <p:cNvPr id="30" name="Text 25"/>
          <p:cNvSpPr/>
          <p:nvPr/>
        </p:nvSpPr>
        <p:spPr>
          <a:xfrm>
            <a:off x="8522208" y="3803904"/>
            <a:ext cx="29992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含『標準版』全部項目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車牌辨識柵欄 + 智能包裹櫃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全區 Nest Wifi Pro(6E)+ 協定橋接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NLP(FastAPI)+ PostgreSQL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冗餘:雙 UPS / 雙上聯備援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49056" y="5431536"/>
            <a:ext cx="3054096" cy="384048"/>
          </a:xfrm>
          <a:prstGeom prst="roundRect">
            <a:avLst>
              <a:gd name="adj" fmla="val 19048"/>
            </a:avLst>
          </a:prstGeom>
          <a:solidFill>
            <a:srgbClr val="0E1A30">
              <a:alpha val="90000"/>
            </a:srgbClr>
          </a:solidFill>
          <a:ln w="9525">
            <a:solidFill>
              <a:srgbClr val="C9A35A">
                <a:alpha val="55000"/>
              </a:srgbClr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49056" y="5431536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適用　</a:t>
            </a:r>
            <a:pPr algn="ctr" indent="0" marL="0"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大型建案 · 多棟社區</a:t>
            </a:r>
            <a:endParaRPr lang="en-US" sz="950" dirty="0"/>
          </a:p>
        </p:txBody>
      </p:sp>
      <p:sp>
        <p:nvSpPr>
          <p:cNvPr id="33" name="Text 28"/>
          <p:cNvSpPr/>
          <p:nvPr/>
        </p:nvSpPr>
        <p:spPr>
          <a:xfrm>
            <a:off x="566928" y="616305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各級可疊加：先以體驗版驗證流程與住戶接受度，再逐棟升級標準版、擴至旗艦版；雲端與 App 用戶端全程沿用同一套系統。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三級部署方案</a:t>
            </a:r>
            <a:endParaRPr lang="en-US" sz="1050" dirty="0"/>
          </a:p>
        </p:txBody>
      </p:sp>
      <p:sp>
        <p:nvSpPr>
          <p:cNvPr id="35" name="Text 30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體驗 → 標準 → 旗艦，逐級擴充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推薦硬體配置清單</dc:title>
  <dc:subject>PptxGenJS Presentation</dc:subject>
  <dc:creator>智慧住宅管理平台</dc:creator>
  <cp:lastModifiedBy>智慧住宅管理平台</cp:lastModifiedBy>
  <cp:revision>1</cp:revision>
  <dcterms:created xsi:type="dcterms:W3CDTF">2026-07-15T05:22:25Z</dcterms:created>
  <dcterms:modified xsi:type="dcterms:W3CDTF">2026-07-15T05:22:25Z</dcterms:modified>
</cp:coreProperties>
</file>