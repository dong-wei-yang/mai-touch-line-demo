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1264" y="1298448"/>
            <a:ext cx="1097280" cy="10972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2724912"/>
            <a:ext cx="121916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C9A35A"/>
                </a:solidFill>
              </a:rPr>
              <a:t>PHASED ROLLOUT PLAN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0" y="3127248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6F3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智慧宅分階段導入規劃</a:t>
            </a:r>
            <a:endParaRPr lang="en-US" sz="4400" dirty="0"/>
          </a:p>
        </p:txBody>
      </p:sp>
      <p:sp>
        <p:nvSpPr>
          <p:cNvPr id="5" name="Shape 2"/>
          <p:cNvSpPr/>
          <p:nvPr/>
        </p:nvSpPr>
        <p:spPr>
          <a:xfrm>
            <a:off x="5632704" y="4133088"/>
            <a:ext cx="914400" cy="0"/>
          </a:xfrm>
          <a:prstGeom prst="line">
            <a:avLst/>
          </a:prstGeom>
          <a:noFill/>
          <a:ln w="15240">
            <a:solidFill>
              <a:srgbClr val="C9A35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0" y="429768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DD8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什麼時候裝什麼　·　客戶會看到什麼　·　推薦硬體配置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0" y="5175504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6CF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樣品屋開賣　→　交屋前　→　住戶入住　→　住滿之後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0" y="6126480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E74A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不用一次全部做完 —— 一台平板加一顆音箱就能開賣，其他隨工程進度分批裝。本簡報不含報價。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A35A"/>
                </a:solidFill>
              </a:rPr>
              <a:t>ONE PAGE OVERVIEW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530352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6F3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一頁看懂：什麼時候，裝什麼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133856"/>
            <a:ext cx="8778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0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四個階段跟著建案走 —— 每一段都可以單獨驗收，也可以看銷售狀況決定要不要往下走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8595360" y="457200"/>
            <a:ext cx="3044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FB0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同一套系統
</a:t>
            </a:r>
            <a:pPr algn="r"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E6CF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分四批裝，不用一次到位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40080" y="2121408"/>
            <a:ext cx="10881360" cy="0"/>
          </a:xfrm>
          <a:prstGeom prst="line">
            <a:avLst/>
          </a:prstGeom>
          <a:noFill/>
          <a:ln w="20320">
            <a:solidFill>
              <a:srgbClr val="3A4F73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1600200" y="1874520"/>
            <a:ext cx="493776" cy="493776"/>
          </a:xfrm>
          <a:prstGeom prst="ellipse">
            <a:avLst/>
          </a:prstGeom>
          <a:solidFill>
            <a:srgbClr val="69D6A8"/>
          </a:solidFill>
          <a:ln w="19050">
            <a:solidFill>
              <a:srgbClr val="0B12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00200" y="187452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75488" y="245059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6F3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樣品屋開賣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75488" y="277977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69D6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現在就能做・預售期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5488" y="3127248"/>
            <a:ext cx="2743200" cy="2852928"/>
          </a:xfrm>
          <a:prstGeom prst="roundRect">
            <a:avLst>
              <a:gd name="adj" fmla="val 3667"/>
            </a:avLst>
          </a:prstGeom>
          <a:solidFill>
            <a:srgbClr val="13241D">
              <a:alpha val="90000"/>
            </a:srgbClr>
          </a:solidFill>
          <a:ln w="12700">
            <a:solidFill>
              <a:srgbClr val="69D6A8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94944" y="3255264"/>
            <a:ext cx="23042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E74A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這階段做什麼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76656" y="3511296"/>
            <a:ext cx="235915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CDD8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接待中心、樣品屋現場就能演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CDD8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手機 App 跟 LINE 帳號同步開通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CDD8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社區名稱、公設清單先建好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94944" y="4864608"/>
            <a:ext cx="2304288" cy="0"/>
          </a:xfrm>
          <a:prstGeom prst="line">
            <a:avLst/>
          </a:prstGeom>
          <a:noFill/>
          <a:ln w="7620">
            <a:solidFill>
              <a:srgbClr val="69D6A8">
                <a:alpha val="60000"/>
              </a:srgbClr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694944" y="4937760"/>
            <a:ext cx="23042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E74A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客戶感受　</a:t>
            </a:r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69D6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客戶當場說一句話，燈就亮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40080" y="5449824"/>
            <a:ext cx="2414016" cy="402336"/>
          </a:xfrm>
          <a:prstGeom prst="roundRect">
            <a:avLst>
              <a:gd name="adj" fmla="val 15909"/>
            </a:avLst>
          </a:prstGeom>
          <a:solidFill>
            <a:srgbClr val="0E1A30">
              <a:alpha val="90000"/>
            </a:srgbClr>
          </a:solidFill>
          <a:ln w="7620">
            <a:solidFill>
              <a:srgbClr val="69D6A8">
                <a:alpha val="5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5449824"/>
            <a:ext cx="24140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5E74A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要裝　</a:t>
            </a:r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E6CF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平板 ×1　＋　智慧音箱 ×1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453128" y="1874520"/>
            <a:ext cx="493776" cy="493776"/>
          </a:xfrm>
          <a:prstGeom prst="ellipse">
            <a:avLst/>
          </a:prstGeom>
          <a:solidFill>
            <a:srgbClr val="C9A35A"/>
          </a:solidFill>
          <a:ln w="19050">
            <a:solidFill>
              <a:srgbClr val="0B122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53128" y="187452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</a:rPr>
              <a:t>2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328416" y="245059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6F3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交屋前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328416" y="277977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C9A3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工程期・交屋前 3 個月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328416" y="3127248"/>
            <a:ext cx="2743200" cy="2852928"/>
          </a:xfrm>
          <a:prstGeom prst="roundRect">
            <a:avLst>
              <a:gd name="adj" fmla="val 3667"/>
            </a:avLst>
          </a:prstGeom>
          <a:solidFill>
            <a:srgbClr val="12203A">
              <a:alpha val="80000"/>
            </a:srgbClr>
          </a:solidFill>
          <a:ln w="9525">
            <a:solidFill>
              <a:srgbClr val="C9A35A">
                <a:alpha val="42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547872" y="3255264"/>
            <a:ext cx="23042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E74A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這階段做什麼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529584" y="3511296"/>
            <a:ext cx="235915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CDD8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管理室設備進場、網路拉好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CDD8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住戶名冊、車位、管理費先建檔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CDD8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報修、公告、繳費開始跑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547872" y="4864608"/>
            <a:ext cx="2304288" cy="0"/>
          </a:xfrm>
          <a:prstGeom prst="line">
            <a:avLst/>
          </a:prstGeom>
          <a:noFill/>
          <a:ln w="7620">
            <a:solidFill>
              <a:srgbClr val="C9A35A">
                <a:alpha val="60000"/>
              </a:srgbClr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3547872" y="4937760"/>
            <a:ext cx="23042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E74A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客戶感受　</a:t>
            </a:r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C9A3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交屋當天就開通，不用再等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493008" y="5449824"/>
            <a:ext cx="2414016" cy="402336"/>
          </a:xfrm>
          <a:prstGeom prst="roundRect">
            <a:avLst>
              <a:gd name="adj" fmla="val 15909"/>
            </a:avLst>
          </a:prstGeom>
          <a:solidFill>
            <a:srgbClr val="0E1A30">
              <a:alpha val="90000"/>
            </a:srgbClr>
          </a:solidFill>
          <a:ln w="7620">
            <a:solidFill>
              <a:srgbClr val="C9A35A">
                <a:alpha val="55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93008" y="5449824"/>
            <a:ext cx="24140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5E74A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要裝　</a:t>
            </a:r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E6CF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管理室主機・網路・大螢幕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7306056" y="1874520"/>
            <a:ext cx="493776" cy="493776"/>
          </a:xfrm>
          <a:prstGeom prst="ellipse">
            <a:avLst/>
          </a:prstGeom>
          <a:solidFill>
            <a:srgbClr val="6FB1FF"/>
          </a:solidFill>
          <a:ln w="19050">
            <a:solidFill>
              <a:srgbClr val="0B122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06056" y="187452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</a:rPr>
              <a:t>3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181344" y="245059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6F3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住戶入住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181344" y="277977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6FB1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交屋・陸續入住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181344" y="3127248"/>
            <a:ext cx="2743200" cy="2852928"/>
          </a:xfrm>
          <a:prstGeom prst="roundRect">
            <a:avLst>
              <a:gd name="adj" fmla="val 3667"/>
            </a:avLst>
          </a:prstGeom>
          <a:solidFill>
            <a:srgbClr val="12203A">
              <a:alpha val="80000"/>
            </a:srgbClr>
          </a:solidFill>
          <a:ln w="9525">
            <a:solidFill>
              <a:srgbClr val="C9A35A">
                <a:alpha val="42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400800" y="3255264"/>
            <a:ext cx="23042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E74A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這階段做什麼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382512" y="3511296"/>
            <a:ext cx="235915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CDD8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住戶開始用自己的手機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CDD8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家裡燈光冷氣可以語音控制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CDD8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大廳掃碼進出、訪客發通行碼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400800" y="4864608"/>
            <a:ext cx="2304288" cy="0"/>
          </a:xfrm>
          <a:prstGeom prst="line">
            <a:avLst/>
          </a:prstGeom>
          <a:noFill/>
          <a:ln w="7620">
            <a:solidFill>
              <a:srgbClr val="6FB1FF">
                <a:alpha val="60000"/>
              </a:srgbClr>
            </a:solidFill>
            <a:prstDash val="dash"/>
          </a:ln>
        </p:spPr>
      </p:sp>
      <p:sp>
        <p:nvSpPr>
          <p:cNvPr id="37" name="Text 35"/>
          <p:cNvSpPr/>
          <p:nvPr/>
        </p:nvSpPr>
        <p:spPr>
          <a:xfrm>
            <a:off x="6400800" y="4937760"/>
            <a:ext cx="23042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E74A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客戶感受　</a:t>
            </a:r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6FB1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住戶天天有感，口碑關鍵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345936" y="5449824"/>
            <a:ext cx="2414016" cy="402336"/>
          </a:xfrm>
          <a:prstGeom prst="roundRect">
            <a:avLst>
              <a:gd name="adj" fmla="val 15909"/>
            </a:avLst>
          </a:prstGeom>
          <a:solidFill>
            <a:srgbClr val="0E1A30">
              <a:alpha val="90000"/>
            </a:srgbClr>
          </a:solidFill>
          <a:ln w="7620">
            <a:solidFill>
              <a:srgbClr val="6FB1FF">
                <a:alpha val="55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45936" y="5449824"/>
            <a:ext cx="24140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5E74A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要裝　</a:t>
            </a:r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E6CF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住戶家中設備　＋　大廳掃碼機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10158984" y="1874520"/>
            <a:ext cx="493776" cy="493776"/>
          </a:xfrm>
          <a:prstGeom prst="ellipse">
            <a:avLst/>
          </a:prstGeom>
          <a:solidFill>
            <a:srgbClr val="E6CF9A"/>
          </a:solidFill>
          <a:ln w="19050">
            <a:solidFill>
              <a:srgbClr val="0B122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158984" y="187452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</a:rPr>
              <a:t>4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9034272" y="245059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6F3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住滿之後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9034272" y="277977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E6CF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營運上軌道再加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9034272" y="3127248"/>
            <a:ext cx="2743200" cy="2852928"/>
          </a:xfrm>
          <a:prstGeom prst="roundRect">
            <a:avLst>
              <a:gd name="adj" fmla="val 3667"/>
            </a:avLst>
          </a:prstGeom>
          <a:solidFill>
            <a:srgbClr val="12203A">
              <a:alpha val="80000"/>
            </a:srgbClr>
          </a:solidFill>
          <a:ln w="9525">
            <a:solidFill>
              <a:srgbClr val="C9A35A">
                <a:alpha val="42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9253728" y="3255264"/>
            <a:ext cx="23042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E74A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這階段做什麼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9235440" y="3511296"/>
            <a:ext cx="235915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CDD8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車子開到門口自動放行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CDD8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包裹自助取件不用等管理員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CDD8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電梯自動送到你家樓層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9253728" y="4864608"/>
            <a:ext cx="2304288" cy="0"/>
          </a:xfrm>
          <a:prstGeom prst="line">
            <a:avLst/>
          </a:prstGeom>
          <a:noFill/>
          <a:ln w="7620">
            <a:solidFill>
              <a:srgbClr val="E6CF9A">
                <a:alpha val="60000"/>
              </a:srgbClr>
            </a:solidFill>
            <a:prstDash val="dash"/>
          </a:ln>
        </p:spPr>
      </p:sp>
      <p:sp>
        <p:nvSpPr>
          <p:cNvPr id="48" name="Text 46"/>
          <p:cNvSpPr/>
          <p:nvPr/>
        </p:nvSpPr>
        <p:spPr>
          <a:xfrm>
            <a:off x="9253728" y="4937760"/>
            <a:ext cx="23042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E74A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客戶感受　</a:t>
            </a:r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E6CF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不用掏卡、不用排隊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9198864" y="5449824"/>
            <a:ext cx="2414016" cy="402336"/>
          </a:xfrm>
          <a:prstGeom prst="roundRect">
            <a:avLst>
              <a:gd name="adj" fmla="val 15909"/>
            </a:avLst>
          </a:prstGeom>
          <a:solidFill>
            <a:srgbClr val="0E1A30">
              <a:alpha val="90000"/>
            </a:srgbClr>
          </a:solidFill>
          <a:ln w="7620">
            <a:solidFill>
              <a:srgbClr val="E6CF9A">
                <a:alpha val="5500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98864" y="5449824"/>
            <a:ext cx="24140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5E74A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要裝　</a:t>
            </a:r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E6CF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車牌辨識・包裹櫃・電梯連動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566928" y="616305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E74A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第 1 階段幾乎不用花硬體錢，先把「賣點」做出來；真正的社區設備從第 2 階段隨工程進場，第 4 階段全部是選配。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74A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分階段導入規劃 ── 一頁看懂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5486400" y="6510528"/>
            <a:ext cx="6153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E74A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先軟體後硬體　·　每階段獨立驗收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A35A"/>
                </a:solidFill>
              </a:rPr>
              <a:t>STAGE 1 · SHOW UNIT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530352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6F3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階段 1　樣品屋開賣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133856"/>
            <a:ext cx="8778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0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先把賣點做出來 —— 一台平板加一顆音箱，接待中心就能演完整套智慧宅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8595360" y="457200"/>
            <a:ext cx="3044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FB0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時間點
</a:t>
            </a:r>
            <a:pPr algn="r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69D6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現在就能做・預售期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120640" y="1170432"/>
            <a:ext cx="6519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9D6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</a:t>
            </a:r>
            <a:pPr algn="r" indent="0" marL="0">
              <a:buNone/>
            </a:pPr>
            <a:r>
              <a:rPr lang="en-US" sz="1050" dirty="0">
                <a:solidFill>
                  <a:srgbClr val="CDD8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已做好・可直接展示　</a:t>
            </a:r>
            <a:pPr algn="r" indent="0" marL="0">
              <a:buNone/>
            </a:pPr>
            <a:r>
              <a:rPr lang="en-US" sz="1050" dirty="0">
                <a:solidFill>
                  <a:srgbClr val="C9A3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</a:t>
            </a:r>
            <a:pPr algn="r" indent="0" marL="0">
              <a:buNone/>
            </a:pPr>
            <a:r>
              <a:rPr lang="en-US" sz="1050" dirty="0">
                <a:solidFill>
                  <a:srgbClr val="CDD8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建議一定要裝　</a:t>
            </a:r>
            <a:pPr algn="r" indent="0" marL="0">
              <a:buNone/>
            </a:pPr>
            <a:r>
              <a:rPr lang="en-US" sz="1050" dirty="0">
                <a:solidFill>
                  <a:srgbClr val="6FB1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○ </a:t>
            </a:r>
            <a:pPr algn="r" indent="0" marL="0">
              <a:buNone/>
            </a:pPr>
            <a:r>
              <a:rPr lang="en-US" sz="1050" dirty="0">
                <a:solidFill>
                  <a:srgbClr val="CDD8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之後想加再加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572768"/>
            <a:ext cx="6172200" cy="4370832"/>
          </a:xfrm>
          <a:prstGeom prst="roundRect">
            <a:avLst>
              <a:gd name="adj" fmla="val 2301"/>
            </a:avLst>
          </a:prstGeom>
          <a:solidFill>
            <a:srgbClr val="12203A">
              <a:alpha val="80000"/>
            </a:srgbClr>
          </a:solidFill>
          <a:ln w="9525">
            <a:solidFill>
              <a:srgbClr val="C9A35A">
                <a:alpha val="42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572768"/>
            <a:ext cx="82296" cy="4370832"/>
          </a:xfrm>
          <a:prstGeom prst="roundRect">
            <a:avLst>
              <a:gd name="adj" fmla="val 44444"/>
            </a:avLst>
          </a:prstGeom>
          <a:solidFill>
            <a:srgbClr val="69D6A8"/>
          </a:solidFill>
          <a:ln/>
        </p:spPr>
      </p:sp>
      <p:sp>
        <p:nvSpPr>
          <p:cNvPr id="9" name="Text 7"/>
          <p:cNvSpPr/>
          <p:nvPr/>
        </p:nvSpPr>
        <p:spPr>
          <a:xfrm>
            <a:off x="713232" y="1700784"/>
            <a:ext cx="5715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9D6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客戶／住戶會看到什麼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49808" y="2157984"/>
            <a:ext cx="548640" cy="548640"/>
          </a:xfrm>
          <a:prstGeom prst="ellipse">
            <a:avLst/>
          </a:prstGeom>
          <a:solidFill>
            <a:srgbClr val="0F1C33"/>
          </a:solidFill>
          <a:ln w="10795">
            <a:solidFill>
              <a:srgbClr val="69D6A8">
                <a:alpha val="65000"/>
              </a:srgbClr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276856"/>
            <a:ext cx="310896" cy="310896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463040" y="2139696"/>
            <a:ext cx="4965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6F3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說一句話就訂到公設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1463040" y="2450592"/>
            <a:ext cx="494690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DD8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對平板說「幫我訂週六下午的健身房」，系統當場排好時段，管理室同時收到通知 —— 客戶親眼看到「說完就成立」。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749808" y="3099816"/>
            <a:ext cx="548640" cy="548640"/>
          </a:xfrm>
          <a:prstGeom prst="ellipse">
            <a:avLst/>
          </a:prstGeom>
          <a:solidFill>
            <a:srgbClr val="0F1C33"/>
          </a:solidFill>
          <a:ln w="10795">
            <a:solidFill>
              <a:srgbClr val="69D6A8">
                <a:alpha val="65000"/>
              </a:srgbClr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218688"/>
            <a:ext cx="310896" cy="31089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463040" y="3081528"/>
            <a:ext cx="4965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6F3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說一句話就開燈開冷氣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1463040" y="3392424"/>
            <a:ext cx="494690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DD8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對音箱說「打開客廳燈」「冷氣調到 26 度」，樣品屋燈光、空調、窗簾當場動起來。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749808" y="4041648"/>
            <a:ext cx="548640" cy="548640"/>
          </a:xfrm>
          <a:prstGeom prst="ellipse">
            <a:avLst/>
          </a:prstGeom>
          <a:solidFill>
            <a:srgbClr val="0F1C33"/>
          </a:solidFill>
          <a:ln w="10795">
            <a:solidFill>
              <a:srgbClr val="69D6A8">
                <a:alpha val="65000"/>
              </a:srgbClr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160520"/>
            <a:ext cx="310896" cy="31089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463040" y="4023360"/>
            <a:ext cx="4965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6F3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客戶用自己的手機就能試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1463040" y="4334256"/>
            <a:ext cx="494690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DD8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現場掃碼下載 App，不用另外準備設備，客戶回家路上還能繼續看。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749808" y="4983480"/>
            <a:ext cx="548640" cy="548640"/>
          </a:xfrm>
          <a:prstGeom prst="ellipse">
            <a:avLst/>
          </a:prstGeom>
          <a:solidFill>
            <a:srgbClr val="0F1C33"/>
          </a:solidFill>
          <a:ln w="10795">
            <a:solidFill>
              <a:srgbClr val="69D6A8">
                <a:alpha val="65000"/>
              </a:srgbClr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5102352"/>
            <a:ext cx="310896" cy="310896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463040" y="4965192"/>
            <a:ext cx="4965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6F3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加 LINE 就收得到社區訊息</a:t>
            </a:r>
            <a:endParaRPr lang="en-US" sz="1350" dirty="0"/>
          </a:p>
        </p:txBody>
      </p:sp>
      <p:sp>
        <p:nvSpPr>
          <p:cNvPr id="25" name="Text 19"/>
          <p:cNvSpPr/>
          <p:nvPr/>
        </p:nvSpPr>
        <p:spPr>
          <a:xfrm>
            <a:off x="1463040" y="5276088"/>
            <a:ext cx="494690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DD8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公告、包裹到件都推到 LINE —— 長輩最熟悉的介面，不用學新東西。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6784848" y="1572768"/>
            <a:ext cx="4946904" cy="4370832"/>
          </a:xfrm>
          <a:prstGeom prst="roundRect">
            <a:avLst>
              <a:gd name="adj" fmla="val 2301"/>
            </a:avLst>
          </a:prstGeom>
          <a:solidFill>
            <a:srgbClr val="14253F">
              <a:alpha val="88000"/>
            </a:srgbClr>
          </a:solidFill>
          <a:ln w="9525">
            <a:solidFill>
              <a:srgbClr val="C9A35A">
                <a:alpha val="42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sp>
        <p:nvSpPr>
          <p:cNvPr id="27" name="Text 21"/>
          <p:cNvSpPr/>
          <p:nvPr/>
        </p:nvSpPr>
        <p:spPr>
          <a:xfrm>
            <a:off x="7040880" y="1700784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CF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這階段要裝的東西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7040880" y="2066544"/>
            <a:ext cx="3529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A3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</a:t>
            </a:r>
            <a:pPr indent="0" marL="0">
              <a:buNone/>
            </a:pPr>
            <a:r>
              <a:rPr lang="en-US" sz="1150" b="1" dirty="0">
                <a:solidFill>
                  <a:srgbClr val="F6F3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接待中心平板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10524744" y="2066544"/>
            <a:ext cx="950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9D6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 台</a:t>
            </a:r>
            <a:endParaRPr lang="en-US" sz="1000" dirty="0"/>
          </a:p>
        </p:txBody>
      </p:sp>
      <p:sp>
        <p:nvSpPr>
          <p:cNvPr id="30" name="Text 24"/>
          <p:cNvSpPr/>
          <p:nvPr/>
        </p:nvSpPr>
        <p:spPr>
          <a:xfrm>
            <a:off x="7242048" y="2313432"/>
            <a:ext cx="4215384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960" dirty="0">
                <a:solidFill>
                  <a:srgbClr val="CDD8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放櫃檯，用來演「說一句話訂公設、自動派工」。10 吋以上即可。</a:t>
            </a:r>
            <a:endParaRPr lang="en-US" sz="960" dirty="0"/>
          </a:p>
        </p:txBody>
      </p:sp>
      <p:sp>
        <p:nvSpPr>
          <p:cNvPr id="31" name="Text 25"/>
          <p:cNvSpPr/>
          <p:nvPr/>
        </p:nvSpPr>
        <p:spPr>
          <a:xfrm>
            <a:off x="7040880" y="2866644"/>
            <a:ext cx="3529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A3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</a:t>
            </a:r>
            <a:pPr indent="0" marL="0">
              <a:buNone/>
            </a:pPr>
            <a:r>
              <a:rPr lang="en-US" sz="1150" b="1" dirty="0">
                <a:solidFill>
                  <a:srgbClr val="F6F3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智慧音箱</a:t>
            </a:r>
            <a:endParaRPr lang="en-US" sz="1000" dirty="0"/>
          </a:p>
        </p:txBody>
      </p:sp>
      <p:sp>
        <p:nvSpPr>
          <p:cNvPr id="32" name="Text 26"/>
          <p:cNvSpPr/>
          <p:nvPr/>
        </p:nvSpPr>
        <p:spPr>
          <a:xfrm>
            <a:off x="10524744" y="2866644"/>
            <a:ext cx="950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9D6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 顆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7242048" y="3113532"/>
            <a:ext cx="4215384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960" dirty="0">
                <a:solidFill>
                  <a:srgbClr val="CDD8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Google 原廠，語音開關燈光、冷氣、窗簾。</a:t>
            </a:r>
            <a:endParaRPr lang="en-US" sz="960" dirty="0"/>
          </a:p>
        </p:txBody>
      </p:sp>
      <p:sp>
        <p:nvSpPr>
          <p:cNvPr id="34" name="Text 28"/>
          <p:cNvSpPr/>
          <p:nvPr/>
        </p:nvSpPr>
        <p:spPr>
          <a:xfrm>
            <a:off x="7040880" y="3666744"/>
            <a:ext cx="3529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B1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○ </a:t>
            </a:r>
            <a:pPr indent="0" marL="0">
              <a:buNone/>
            </a:pPr>
            <a:r>
              <a:rPr lang="en-US" sz="1150" b="1" dirty="0">
                <a:solidFill>
                  <a:srgbClr val="F6F3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示範用小主機＋燈光冷氣</a:t>
            </a:r>
            <a:endParaRPr lang="en-US" sz="1000" dirty="0"/>
          </a:p>
        </p:txBody>
      </p:sp>
      <p:sp>
        <p:nvSpPr>
          <p:cNvPr id="35" name="Text 29"/>
          <p:cNvSpPr/>
          <p:nvPr/>
        </p:nvSpPr>
        <p:spPr>
          <a:xfrm>
            <a:off x="10524744" y="3666744"/>
            <a:ext cx="950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9D6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 式</a:t>
            </a:r>
            <a:endParaRPr lang="en-US" sz="1000" dirty="0"/>
          </a:p>
        </p:txBody>
      </p:sp>
      <p:sp>
        <p:nvSpPr>
          <p:cNvPr id="36" name="Text 30"/>
          <p:cNvSpPr/>
          <p:nvPr/>
        </p:nvSpPr>
        <p:spPr>
          <a:xfrm>
            <a:off x="7242048" y="3913632"/>
            <a:ext cx="4215384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960" dirty="0">
                <a:solidFill>
                  <a:srgbClr val="CDD8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讓樣品屋真的亮起來；預算有限時也可以只用螢幕模擬。</a:t>
            </a:r>
            <a:endParaRPr lang="en-US" sz="960" dirty="0"/>
          </a:p>
        </p:txBody>
      </p:sp>
      <p:sp>
        <p:nvSpPr>
          <p:cNvPr id="37" name="Text 31"/>
          <p:cNvSpPr/>
          <p:nvPr/>
        </p:nvSpPr>
        <p:spPr>
          <a:xfrm>
            <a:off x="7040880" y="4466844"/>
            <a:ext cx="3529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9D6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</a:t>
            </a:r>
            <a:pPr indent="0" marL="0">
              <a:buNone/>
            </a:pPr>
            <a:r>
              <a:rPr lang="en-US" sz="1150" b="1" dirty="0">
                <a:solidFill>
                  <a:srgbClr val="F6F3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雲端服務</a:t>
            </a:r>
            <a:endParaRPr lang="en-US" sz="1000" dirty="0"/>
          </a:p>
        </p:txBody>
      </p:sp>
      <p:sp>
        <p:nvSpPr>
          <p:cNvPr id="38" name="Text 32"/>
          <p:cNvSpPr/>
          <p:nvPr/>
        </p:nvSpPr>
        <p:spPr>
          <a:xfrm>
            <a:off x="10524744" y="4466844"/>
            <a:ext cx="950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9D6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免費層</a:t>
            </a:r>
            <a:endParaRPr lang="en-US" sz="1000" dirty="0"/>
          </a:p>
        </p:txBody>
      </p:sp>
      <p:sp>
        <p:nvSpPr>
          <p:cNvPr id="39" name="Text 33"/>
          <p:cNvSpPr/>
          <p:nvPr/>
        </p:nvSpPr>
        <p:spPr>
          <a:xfrm>
            <a:off x="7242048" y="4713732"/>
            <a:ext cx="4215384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960" dirty="0">
                <a:solidFill>
                  <a:srgbClr val="CDD8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系統跑在雲端，這階段不用自己買主機。</a:t>
            </a:r>
            <a:endParaRPr lang="en-US" sz="960" dirty="0"/>
          </a:p>
        </p:txBody>
      </p:sp>
      <p:sp>
        <p:nvSpPr>
          <p:cNvPr id="40" name="Shape 34"/>
          <p:cNvSpPr/>
          <p:nvPr/>
        </p:nvSpPr>
        <p:spPr>
          <a:xfrm>
            <a:off x="7004304" y="5376672"/>
            <a:ext cx="4507992" cy="475488"/>
          </a:xfrm>
          <a:prstGeom prst="roundRect">
            <a:avLst>
              <a:gd name="adj" fmla="val 13462"/>
            </a:avLst>
          </a:prstGeom>
          <a:solidFill>
            <a:srgbClr val="0E1A30">
              <a:alpha val="90000"/>
            </a:srgbClr>
          </a:solidFill>
          <a:ln w="7620">
            <a:solidFill>
              <a:srgbClr val="69D6A8">
                <a:alpha val="55000"/>
              </a:srgbClr>
            </a:solidFill>
            <a:prstDash val="solid"/>
          </a:ln>
        </p:spPr>
      </p:sp>
      <p:sp>
        <p:nvSpPr>
          <p:cNvPr id="41" name="Text 35"/>
          <p:cNvSpPr/>
          <p:nvPr/>
        </p:nvSpPr>
        <p:spPr>
          <a:xfrm>
            <a:off x="7059168" y="5376672"/>
            <a:ext cx="43982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E6CF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這階段幾乎不用花硬體錢</a:t>
            </a:r>
            <a:endParaRPr lang="en-US" sz="95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E6CF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一台平板 ＋ 一顆音箱就能開賣</a:t>
            </a:r>
            <a:endParaRPr lang="en-US" sz="950" dirty="0"/>
          </a:p>
        </p:txBody>
      </p:sp>
      <p:sp>
        <p:nvSpPr>
          <p:cNvPr id="42" name="Text 36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74A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分階段導入規劃 ── 階段 1　樣品屋開賣</a:t>
            </a:r>
            <a:endParaRPr lang="en-US" sz="1050" dirty="0"/>
          </a:p>
        </p:txBody>
      </p:sp>
      <p:sp>
        <p:nvSpPr>
          <p:cNvPr id="43" name="Text 37"/>
          <p:cNvSpPr/>
          <p:nvPr/>
        </p:nvSpPr>
        <p:spPr>
          <a:xfrm>
            <a:off x="5486400" y="6510528"/>
            <a:ext cx="6153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E74A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階段 1 → 2 → 3 → 4　　目前：階段 1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A35A"/>
                </a:solidFill>
              </a:rPr>
              <a:t>STAGE 2 · BEFORE HANDOVER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530352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6F3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階段 2　交屋前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133856"/>
            <a:ext cx="8778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0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管理室設備進場 —— 住戶資料先建好，交屋當天 App 就能用，不用再等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8595360" y="457200"/>
            <a:ext cx="3044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FB0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時間點
</a:t>
            </a:r>
            <a:pPr algn="r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C9A3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工程期・交屋前 3 個月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120640" y="1170432"/>
            <a:ext cx="6519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9D6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</a:t>
            </a:r>
            <a:pPr algn="r" indent="0" marL="0">
              <a:buNone/>
            </a:pPr>
            <a:r>
              <a:rPr lang="en-US" sz="1050" dirty="0">
                <a:solidFill>
                  <a:srgbClr val="CDD8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已做好・可直接展示　</a:t>
            </a:r>
            <a:pPr algn="r" indent="0" marL="0">
              <a:buNone/>
            </a:pPr>
            <a:r>
              <a:rPr lang="en-US" sz="1050" dirty="0">
                <a:solidFill>
                  <a:srgbClr val="C9A3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</a:t>
            </a:r>
            <a:pPr algn="r" indent="0" marL="0">
              <a:buNone/>
            </a:pPr>
            <a:r>
              <a:rPr lang="en-US" sz="1050" dirty="0">
                <a:solidFill>
                  <a:srgbClr val="CDD8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建議一定要裝　</a:t>
            </a:r>
            <a:pPr algn="r" indent="0" marL="0">
              <a:buNone/>
            </a:pPr>
            <a:r>
              <a:rPr lang="en-US" sz="1050" dirty="0">
                <a:solidFill>
                  <a:srgbClr val="6FB1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○ </a:t>
            </a:r>
            <a:pPr algn="r" indent="0" marL="0">
              <a:buNone/>
            </a:pPr>
            <a:r>
              <a:rPr lang="en-US" sz="1050" dirty="0">
                <a:solidFill>
                  <a:srgbClr val="CDD8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之後想加再加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572768"/>
            <a:ext cx="6172200" cy="4370832"/>
          </a:xfrm>
          <a:prstGeom prst="roundRect">
            <a:avLst>
              <a:gd name="adj" fmla="val 2301"/>
            </a:avLst>
          </a:prstGeom>
          <a:solidFill>
            <a:srgbClr val="12203A">
              <a:alpha val="80000"/>
            </a:srgbClr>
          </a:solidFill>
          <a:ln w="9525">
            <a:solidFill>
              <a:srgbClr val="C9A35A">
                <a:alpha val="42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572768"/>
            <a:ext cx="82296" cy="4370832"/>
          </a:xfrm>
          <a:prstGeom prst="roundRect">
            <a:avLst>
              <a:gd name="adj" fmla="val 44444"/>
            </a:avLst>
          </a:prstGeom>
          <a:solidFill>
            <a:srgbClr val="C9A35A"/>
          </a:solidFill>
          <a:ln/>
        </p:spPr>
      </p:sp>
      <p:sp>
        <p:nvSpPr>
          <p:cNvPr id="9" name="Text 7"/>
          <p:cNvSpPr/>
          <p:nvPr/>
        </p:nvSpPr>
        <p:spPr>
          <a:xfrm>
            <a:off x="713232" y="1700784"/>
            <a:ext cx="5715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3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客戶／住戶會看到什麼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49808" y="2157984"/>
            <a:ext cx="548640" cy="548640"/>
          </a:xfrm>
          <a:prstGeom prst="ellipse">
            <a:avLst/>
          </a:prstGeom>
          <a:solidFill>
            <a:srgbClr val="0F1C33"/>
          </a:solidFill>
          <a:ln w="10795">
            <a:solidFill>
              <a:srgbClr val="C9A35A">
                <a:alpha val="65000"/>
              </a:srgbClr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276856"/>
            <a:ext cx="310896" cy="310896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463040" y="2139696"/>
            <a:ext cx="4965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6F3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交屋當天 App 直接開通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1463040" y="2450592"/>
            <a:ext cx="494690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DD8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住戶名冊、車位、管理費規則事先建好，交屋現場掃碼就登入 —— 交屋日就是體驗日。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749808" y="3099816"/>
            <a:ext cx="548640" cy="548640"/>
          </a:xfrm>
          <a:prstGeom prst="ellipse">
            <a:avLst/>
          </a:prstGeom>
          <a:solidFill>
            <a:srgbClr val="0F1C33"/>
          </a:solidFill>
          <a:ln w="10795">
            <a:solidFill>
              <a:srgbClr val="C9A35A">
                <a:alpha val="65000"/>
              </a:srgbClr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218688"/>
            <a:ext cx="310896" cy="31089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463040" y="3081528"/>
            <a:ext cx="4965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6F3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管理室一個螢幕看全社區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1463040" y="3392424"/>
            <a:ext cx="494690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DD8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報修、包裹、公設預約、繳費狀況都在同一頁，不用再翻好幾本簿子。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749808" y="4041648"/>
            <a:ext cx="548640" cy="548640"/>
          </a:xfrm>
          <a:prstGeom prst="ellipse">
            <a:avLst/>
          </a:prstGeom>
          <a:solidFill>
            <a:srgbClr val="0F1C33"/>
          </a:solidFill>
          <a:ln w="10795">
            <a:solidFill>
              <a:srgbClr val="C9A35A">
                <a:alpha val="65000"/>
              </a:srgbClr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160520"/>
            <a:ext cx="310896" cy="31089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463040" y="4023360"/>
            <a:ext cx="4965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6F3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住戶報修不用打電話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1463040" y="4334256"/>
            <a:ext cx="494690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DD8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App 拍照上傳，工單自動派給廠商，修到哪裡住戶自己看得到，客訴少一半。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749808" y="4983480"/>
            <a:ext cx="548640" cy="548640"/>
          </a:xfrm>
          <a:prstGeom prst="ellipse">
            <a:avLst/>
          </a:prstGeom>
          <a:solidFill>
            <a:srgbClr val="0F1C33"/>
          </a:solidFill>
          <a:ln w="10795">
            <a:solidFill>
              <a:srgbClr val="C9A35A">
                <a:alpha val="65000"/>
              </a:srgbClr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5102352"/>
            <a:ext cx="310896" cy="310896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463040" y="4965192"/>
            <a:ext cx="4965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6F3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公告發一次，三個地方收得到</a:t>
            </a:r>
            <a:endParaRPr lang="en-US" sz="1350" dirty="0"/>
          </a:p>
        </p:txBody>
      </p:sp>
      <p:sp>
        <p:nvSpPr>
          <p:cNvPr id="25" name="Text 19"/>
          <p:cNvSpPr/>
          <p:nvPr/>
        </p:nvSpPr>
        <p:spPr>
          <a:xfrm>
            <a:off x="1463040" y="5276088"/>
            <a:ext cx="494690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DD8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App 推播、LINE、簡訊同時送出，不會有人說「我沒收到」。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6784848" y="1572768"/>
            <a:ext cx="4946904" cy="4370832"/>
          </a:xfrm>
          <a:prstGeom prst="roundRect">
            <a:avLst>
              <a:gd name="adj" fmla="val 2301"/>
            </a:avLst>
          </a:prstGeom>
          <a:solidFill>
            <a:srgbClr val="14253F">
              <a:alpha val="88000"/>
            </a:srgbClr>
          </a:solidFill>
          <a:ln w="9525">
            <a:solidFill>
              <a:srgbClr val="C9A35A">
                <a:alpha val="42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sp>
        <p:nvSpPr>
          <p:cNvPr id="27" name="Text 21"/>
          <p:cNvSpPr/>
          <p:nvPr/>
        </p:nvSpPr>
        <p:spPr>
          <a:xfrm>
            <a:off x="7040880" y="1700784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CF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這階段要裝的東西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7040880" y="2066544"/>
            <a:ext cx="3529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A3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</a:t>
            </a:r>
            <a:pPr indent="0" marL="0">
              <a:buNone/>
            </a:pPr>
            <a:r>
              <a:rPr lang="en-US" sz="1150" b="1" dirty="0">
                <a:solidFill>
                  <a:srgbClr val="F6F3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管理室小主機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10524744" y="2066544"/>
            <a:ext cx="950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9A3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 台</a:t>
            </a:r>
            <a:endParaRPr lang="en-US" sz="1000" dirty="0"/>
          </a:p>
        </p:txBody>
      </p:sp>
      <p:sp>
        <p:nvSpPr>
          <p:cNvPr id="30" name="Text 24"/>
          <p:cNvSpPr/>
          <p:nvPr/>
        </p:nvSpPr>
        <p:spPr>
          <a:xfrm>
            <a:off x="7242048" y="2313432"/>
            <a:ext cx="4215384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960" dirty="0">
                <a:solidFill>
                  <a:srgbClr val="CDD8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社區的大腦，放管理室，之後所有設備的指令都從這裡送出去。</a:t>
            </a:r>
            <a:endParaRPr lang="en-US" sz="960" dirty="0"/>
          </a:p>
        </p:txBody>
      </p:sp>
      <p:sp>
        <p:nvSpPr>
          <p:cNvPr id="31" name="Text 25"/>
          <p:cNvSpPr/>
          <p:nvPr/>
        </p:nvSpPr>
        <p:spPr>
          <a:xfrm>
            <a:off x="7040880" y="2599944"/>
            <a:ext cx="3529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A3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</a:t>
            </a:r>
            <a:pPr indent="0" marL="0">
              <a:buNone/>
            </a:pPr>
            <a:r>
              <a:rPr lang="en-US" sz="1150" b="1" dirty="0">
                <a:solidFill>
                  <a:srgbClr val="F6F3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不斷電電池</a:t>
            </a:r>
            <a:endParaRPr lang="en-US" sz="1000" dirty="0"/>
          </a:p>
        </p:txBody>
      </p:sp>
      <p:sp>
        <p:nvSpPr>
          <p:cNvPr id="32" name="Text 26"/>
          <p:cNvSpPr/>
          <p:nvPr/>
        </p:nvSpPr>
        <p:spPr>
          <a:xfrm>
            <a:off x="10524744" y="2599944"/>
            <a:ext cx="950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9A3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 台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7242048" y="2846832"/>
            <a:ext cx="4215384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960" dirty="0">
                <a:solidFill>
                  <a:srgbClr val="CDD8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停電時系統不會關機，門禁照常運作。</a:t>
            </a:r>
            <a:endParaRPr lang="en-US" sz="960" dirty="0"/>
          </a:p>
        </p:txBody>
      </p:sp>
      <p:sp>
        <p:nvSpPr>
          <p:cNvPr id="34" name="Text 28"/>
          <p:cNvSpPr/>
          <p:nvPr/>
        </p:nvSpPr>
        <p:spPr>
          <a:xfrm>
            <a:off x="7040880" y="3133344"/>
            <a:ext cx="3529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A3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</a:t>
            </a:r>
            <a:pPr indent="0" marL="0">
              <a:buNone/>
            </a:pPr>
            <a:r>
              <a:rPr lang="en-US" sz="1150" b="1" dirty="0">
                <a:solidFill>
                  <a:srgbClr val="F6F3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社區網路主機</a:t>
            </a:r>
            <a:endParaRPr lang="en-US" sz="1000" dirty="0"/>
          </a:p>
        </p:txBody>
      </p:sp>
      <p:sp>
        <p:nvSpPr>
          <p:cNvPr id="35" name="Text 29"/>
          <p:cNvSpPr/>
          <p:nvPr/>
        </p:nvSpPr>
        <p:spPr>
          <a:xfrm>
            <a:off x="10524744" y="3133344"/>
            <a:ext cx="950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9A3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 台</a:t>
            </a:r>
            <a:endParaRPr lang="en-US" sz="1000" dirty="0"/>
          </a:p>
        </p:txBody>
      </p:sp>
      <p:sp>
        <p:nvSpPr>
          <p:cNvPr id="36" name="Text 30"/>
          <p:cNvSpPr/>
          <p:nvPr/>
        </p:nvSpPr>
        <p:spPr>
          <a:xfrm>
            <a:off x="7242048" y="3380232"/>
            <a:ext cx="4215384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960" dirty="0">
                <a:solidFill>
                  <a:srgbClr val="CDD8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把住戶、監控、管理三種網路分開走，比較安全也不會互相卡。</a:t>
            </a:r>
            <a:endParaRPr lang="en-US" sz="960" dirty="0"/>
          </a:p>
        </p:txBody>
      </p:sp>
      <p:sp>
        <p:nvSpPr>
          <p:cNvPr id="37" name="Text 31"/>
          <p:cNvSpPr/>
          <p:nvPr/>
        </p:nvSpPr>
        <p:spPr>
          <a:xfrm>
            <a:off x="7040880" y="3666744"/>
            <a:ext cx="3529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A3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</a:t>
            </a:r>
            <a:pPr indent="0" marL="0">
              <a:buNone/>
            </a:pPr>
            <a:r>
              <a:rPr lang="en-US" sz="1150" b="1" dirty="0">
                <a:solidFill>
                  <a:srgbClr val="F6F3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網路集線器</a:t>
            </a:r>
            <a:endParaRPr lang="en-US" sz="1000" dirty="0"/>
          </a:p>
        </p:txBody>
      </p:sp>
      <p:sp>
        <p:nvSpPr>
          <p:cNvPr id="38" name="Text 32"/>
          <p:cNvSpPr/>
          <p:nvPr/>
        </p:nvSpPr>
        <p:spPr>
          <a:xfrm>
            <a:off x="10524744" y="3666744"/>
            <a:ext cx="950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9A3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1–2 台</a:t>
            </a:r>
            <a:endParaRPr lang="en-US" sz="1000" dirty="0"/>
          </a:p>
        </p:txBody>
      </p:sp>
      <p:sp>
        <p:nvSpPr>
          <p:cNvPr id="39" name="Text 33"/>
          <p:cNvSpPr/>
          <p:nvPr/>
        </p:nvSpPr>
        <p:spPr>
          <a:xfrm>
            <a:off x="7242048" y="3913632"/>
            <a:ext cx="4215384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960" dirty="0">
                <a:solidFill>
                  <a:srgbClr val="CDD8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一條網路線同時送資料跟電；之後接掃碼機、攝影機不用再拉電源。</a:t>
            </a:r>
            <a:endParaRPr lang="en-US" sz="960" dirty="0"/>
          </a:p>
        </p:txBody>
      </p:sp>
      <p:sp>
        <p:nvSpPr>
          <p:cNvPr id="40" name="Text 34"/>
          <p:cNvSpPr/>
          <p:nvPr/>
        </p:nvSpPr>
        <p:spPr>
          <a:xfrm>
            <a:off x="7040880" y="4200144"/>
            <a:ext cx="3529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A3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</a:t>
            </a:r>
            <a:pPr indent="0" marL="0">
              <a:buNone/>
            </a:pPr>
            <a:r>
              <a:rPr lang="en-US" sz="1150" b="1" dirty="0">
                <a:solidFill>
                  <a:srgbClr val="F6F3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管理室大螢幕</a:t>
            </a:r>
            <a:endParaRPr lang="en-US" sz="1000" dirty="0"/>
          </a:p>
        </p:txBody>
      </p:sp>
      <p:sp>
        <p:nvSpPr>
          <p:cNvPr id="41" name="Text 35"/>
          <p:cNvSpPr/>
          <p:nvPr/>
        </p:nvSpPr>
        <p:spPr>
          <a:xfrm>
            <a:off x="10524744" y="4200144"/>
            <a:ext cx="950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9A3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 台</a:t>
            </a:r>
            <a:endParaRPr lang="en-US" sz="1000" dirty="0"/>
          </a:p>
        </p:txBody>
      </p:sp>
      <p:sp>
        <p:nvSpPr>
          <p:cNvPr id="42" name="Text 36"/>
          <p:cNvSpPr/>
          <p:nvPr/>
        </p:nvSpPr>
        <p:spPr>
          <a:xfrm>
            <a:off x="7242048" y="4447032"/>
            <a:ext cx="4215384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960" dirty="0">
                <a:solidFill>
                  <a:srgbClr val="CDD8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一體機，或用電視接瀏覽器也可以。</a:t>
            </a:r>
            <a:endParaRPr lang="en-US" sz="960" dirty="0"/>
          </a:p>
        </p:txBody>
      </p:sp>
      <p:sp>
        <p:nvSpPr>
          <p:cNvPr id="43" name="Text 37"/>
          <p:cNvSpPr/>
          <p:nvPr/>
        </p:nvSpPr>
        <p:spPr>
          <a:xfrm>
            <a:off x="7040880" y="4733544"/>
            <a:ext cx="3529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A3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</a:t>
            </a:r>
            <a:pPr indent="0" marL="0">
              <a:buNone/>
            </a:pPr>
            <a:r>
              <a:rPr lang="en-US" sz="1150" b="1" dirty="0">
                <a:solidFill>
                  <a:srgbClr val="F6F3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櫃檯平板</a:t>
            </a:r>
            <a:endParaRPr lang="en-US" sz="1000" dirty="0"/>
          </a:p>
        </p:txBody>
      </p:sp>
      <p:sp>
        <p:nvSpPr>
          <p:cNvPr id="44" name="Text 38"/>
          <p:cNvSpPr/>
          <p:nvPr/>
        </p:nvSpPr>
        <p:spPr>
          <a:xfrm>
            <a:off x="10524744" y="4733544"/>
            <a:ext cx="950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9A3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 台</a:t>
            </a:r>
            <a:endParaRPr lang="en-US" sz="1000" dirty="0"/>
          </a:p>
        </p:txBody>
      </p:sp>
      <p:sp>
        <p:nvSpPr>
          <p:cNvPr id="45" name="Text 39"/>
          <p:cNvSpPr/>
          <p:nvPr/>
        </p:nvSpPr>
        <p:spPr>
          <a:xfrm>
            <a:off x="7242048" y="4980432"/>
            <a:ext cx="4215384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960" dirty="0">
                <a:solidFill>
                  <a:srgbClr val="CDD8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櫃檯人員日常收發、登記用。</a:t>
            </a:r>
            <a:endParaRPr lang="en-US" sz="960" dirty="0"/>
          </a:p>
        </p:txBody>
      </p:sp>
      <p:sp>
        <p:nvSpPr>
          <p:cNvPr id="46" name="Shape 40"/>
          <p:cNvSpPr/>
          <p:nvPr/>
        </p:nvSpPr>
        <p:spPr>
          <a:xfrm>
            <a:off x="7004304" y="5376672"/>
            <a:ext cx="4507992" cy="475488"/>
          </a:xfrm>
          <a:prstGeom prst="roundRect">
            <a:avLst>
              <a:gd name="adj" fmla="val 13462"/>
            </a:avLst>
          </a:prstGeom>
          <a:solidFill>
            <a:srgbClr val="0E1A30">
              <a:alpha val="90000"/>
            </a:srgbClr>
          </a:solidFill>
          <a:ln w="7620">
            <a:solidFill>
              <a:srgbClr val="C9A35A">
                <a:alpha val="55000"/>
              </a:srgbClr>
            </a:solidFill>
            <a:prstDash val="solid"/>
          </a:ln>
        </p:spPr>
      </p:sp>
      <p:sp>
        <p:nvSpPr>
          <p:cNvPr id="47" name="Text 41"/>
          <p:cNvSpPr/>
          <p:nvPr/>
        </p:nvSpPr>
        <p:spPr>
          <a:xfrm>
            <a:off x="7059168" y="5376672"/>
            <a:ext cx="43982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E6CF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機房位置與管線請在工程期一起預留</a:t>
            </a:r>
            <a:endParaRPr lang="en-US" sz="95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E6CF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之後就不用再敲牆</a:t>
            </a:r>
            <a:endParaRPr lang="en-US" sz="950" dirty="0"/>
          </a:p>
        </p:txBody>
      </p:sp>
      <p:sp>
        <p:nvSpPr>
          <p:cNvPr id="48" name="Text 42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74A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分階段導入規劃 ── 階段 2　交屋前</a:t>
            </a:r>
            <a:endParaRPr lang="en-US" sz="1050" dirty="0"/>
          </a:p>
        </p:txBody>
      </p:sp>
      <p:sp>
        <p:nvSpPr>
          <p:cNvPr id="49" name="Text 43"/>
          <p:cNvSpPr/>
          <p:nvPr/>
        </p:nvSpPr>
        <p:spPr>
          <a:xfrm>
            <a:off x="5486400" y="6510528"/>
            <a:ext cx="6153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E74A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階段 1 → 2 → 3 → 4　　目前：階段 2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A35A"/>
                </a:solidFill>
              </a:rPr>
              <a:t>STAGE 3 · RESIDENTS MOVE IN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530352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6F3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階段 3　住戶入住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133856"/>
            <a:ext cx="8778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0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住戶最有感的一段 —— 手機、語音、掃碼進出，全部在這階段開起來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8595360" y="457200"/>
            <a:ext cx="3044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FB0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時間點
</a:t>
            </a:r>
            <a:pPr algn="r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6FB1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交屋・陸續入住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120640" y="1170432"/>
            <a:ext cx="6519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9D6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</a:t>
            </a:r>
            <a:pPr algn="r" indent="0" marL="0">
              <a:buNone/>
            </a:pPr>
            <a:r>
              <a:rPr lang="en-US" sz="1050" dirty="0">
                <a:solidFill>
                  <a:srgbClr val="CDD8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已做好・可直接展示　</a:t>
            </a:r>
            <a:pPr algn="r" indent="0" marL="0">
              <a:buNone/>
            </a:pPr>
            <a:r>
              <a:rPr lang="en-US" sz="1050" dirty="0">
                <a:solidFill>
                  <a:srgbClr val="C9A3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</a:t>
            </a:r>
            <a:pPr algn="r" indent="0" marL="0">
              <a:buNone/>
            </a:pPr>
            <a:r>
              <a:rPr lang="en-US" sz="1050" dirty="0">
                <a:solidFill>
                  <a:srgbClr val="CDD8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建議一定要裝　</a:t>
            </a:r>
            <a:pPr algn="r" indent="0" marL="0">
              <a:buNone/>
            </a:pPr>
            <a:r>
              <a:rPr lang="en-US" sz="1050" dirty="0">
                <a:solidFill>
                  <a:srgbClr val="6FB1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○ </a:t>
            </a:r>
            <a:pPr algn="r" indent="0" marL="0">
              <a:buNone/>
            </a:pPr>
            <a:r>
              <a:rPr lang="en-US" sz="1050" dirty="0">
                <a:solidFill>
                  <a:srgbClr val="CDD8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之後想加再加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572768"/>
            <a:ext cx="6172200" cy="4370832"/>
          </a:xfrm>
          <a:prstGeom prst="roundRect">
            <a:avLst>
              <a:gd name="adj" fmla="val 2301"/>
            </a:avLst>
          </a:prstGeom>
          <a:solidFill>
            <a:srgbClr val="12203A">
              <a:alpha val="80000"/>
            </a:srgbClr>
          </a:solidFill>
          <a:ln w="9525">
            <a:solidFill>
              <a:srgbClr val="C9A35A">
                <a:alpha val="42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572768"/>
            <a:ext cx="82296" cy="4370832"/>
          </a:xfrm>
          <a:prstGeom prst="roundRect">
            <a:avLst>
              <a:gd name="adj" fmla="val 44444"/>
            </a:avLst>
          </a:prstGeom>
          <a:solidFill>
            <a:srgbClr val="6FB1FF"/>
          </a:solidFill>
          <a:ln/>
        </p:spPr>
      </p:sp>
      <p:sp>
        <p:nvSpPr>
          <p:cNvPr id="9" name="Text 7"/>
          <p:cNvSpPr/>
          <p:nvPr/>
        </p:nvSpPr>
        <p:spPr>
          <a:xfrm>
            <a:off x="713232" y="1700784"/>
            <a:ext cx="5715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FB1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客戶／住戶會看到什麼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49808" y="2157984"/>
            <a:ext cx="548640" cy="548640"/>
          </a:xfrm>
          <a:prstGeom prst="ellipse">
            <a:avLst/>
          </a:prstGeom>
          <a:solidFill>
            <a:srgbClr val="0F1C33"/>
          </a:solidFill>
          <a:ln w="10795">
            <a:solidFill>
              <a:srgbClr val="6FB1FF">
                <a:alpha val="65000"/>
              </a:srgbClr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276856"/>
            <a:ext cx="310896" cy="310896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463040" y="2139696"/>
            <a:ext cx="4965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6F3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回家路上先把冷氣打開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1463040" y="2450592"/>
            <a:ext cx="494690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DD8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手機按一下，進門就是舒服的溫度 —— 這是客戶最容易記住的一個畫面。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749808" y="3099816"/>
            <a:ext cx="548640" cy="548640"/>
          </a:xfrm>
          <a:prstGeom prst="ellipse">
            <a:avLst/>
          </a:prstGeom>
          <a:solidFill>
            <a:srgbClr val="0F1C33"/>
          </a:solidFill>
          <a:ln w="10795">
            <a:solidFill>
              <a:srgbClr val="6FB1FF">
                <a:alpha val="65000"/>
              </a:srgbClr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218688"/>
            <a:ext cx="310896" cy="31089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463040" y="3081528"/>
            <a:ext cx="4965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6F3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在家說一句話就好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1463040" y="3392424"/>
            <a:ext cx="494690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DD8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「我要睡了」，燈自動關、窗簾拉上；不想說話也可以用房間的小螢幕點。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749808" y="4041648"/>
            <a:ext cx="548640" cy="548640"/>
          </a:xfrm>
          <a:prstGeom prst="ellipse">
            <a:avLst/>
          </a:prstGeom>
          <a:solidFill>
            <a:srgbClr val="0F1C33"/>
          </a:solidFill>
          <a:ln w="10795">
            <a:solidFill>
              <a:srgbClr val="6FB1FF">
                <a:alpha val="65000"/>
              </a:srgbClr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160520"/>
            <a:ext cx="310896" cy="31089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463040" y="4023360"/>
            <a:ext cx="4965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6F3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大廳掃碼就進門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1463040" y="4334256"/>
            <a:ext cx="494690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DD8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手機出示 QR 就開門；訪客可以發臨時通行碼，時間到自動失效。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749808" y="4983480"/>
            <a:ext cx="548640" cy="548640"/>
          </a:xfrm>
          <a:prstGeom prst="ellipse">
            <a:avLst/>
          </a:prstGeom>
          <a:solidFill>
            <a:srgbClr val="0F1C33"/>
          </a:solidFill>
          <a:ln w="10795">
            <a:solidFill>
              <a:srgbClr val="6FB1FF">
                <a:alpha val="65000"/>
              </a:srgbClr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5102352"/>
            <a:ext cx="310896" cy="310896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463040" y="4965192"/>
            <a:ext cx="4965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6F3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包裹到了手機馬上通知</a:t>
            </a:r>
            <a:endParaRPr lang="en-US" sz="1350" dirty="0"/>
          </a:p>
        </p:txBody>
      </p:sp>
      <p:sp>
        <p:nvSpPr>
          <p:cNvPr id="25" name="Text 19"/>
          <p:cNvSpPr/>
          <p:nvPr/>
        </p:nvSpPr>
        <p:spPr>
          <a:xfrm>
            <a:off x="1463040" y="5276088"/>
            <a:ext cx="494690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DD8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誰簽收、放在哪一格都查得到，管理員不用再一直打電話。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6784848" y="1572768"/>
            <a:ext cx="4946904" cy="4370832"/>
          </a:xfrm>
          <a:prstGeom prst="roundRect">
            <a:avLst>
              <a:gd name="adj" fmla="val 2301"/>
            </a:avLst>
          </a:prstGeom>
          <a:solidFill>
            <a:srgbClr val="14253F">
              <a:alpha val="88000"/>
            </a:srgbClr>
          </a:solidFill>
          <a:ln w="9525">
            <a:solidFill>
              <a:srgbClr val="C9A35A">
                <a:alpha val="42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sp>
        <p:nvSpPr>
          <p:cNvPr id="27" name="Text 21"/>
          <p:cNvSpPr/>
          <p:nvPr/>
        </p:nvSpPr>
        <p:spPr>
          <a:xfrm>
            <a:off x="7040880" y="1700784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CF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這階段要裝的東西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7040880" y="2066544"/>
            <a:ext cx="3529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9D6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</a:t>
            </a:r>
            <a:pPr indent="0" marL="0">
              <a:buNone/>
            </a:pPr>
            <a:r>
              <a:rPr lang="en-US" sz="1150" b="1" dirty="0">
                <a:solidFill>
                  <a:srgbClr val="F6F3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住戶家中設備組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10524744" y="2066544"/>
            <a:ext cx="950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FB1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每戶 1 式</a:t>
            </a:r>
            <a:endParaRPr lang="en-US" sz="1000" dirty="0"/>
          </a:p>
        </p:txBody>
      </p:sp>
      <p:sp>
        <p:nvSpPr>
          <p:cNvPr id="30" name="Text 24"/>
          <p:cNvSpPr/>
          <p:nvPr/>
        </p:nvSpPr>
        <p:spPr>
          <a:xfrm>
            <a:off x="7242048" y="2313432"/>
            <a:ext cx="4215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960" dirty="0">
                <a:solidFill>
                  <a:srgbClr val="CDD8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燈光、冷氣、窗簾的控制模組，裝在住戶家裡。</a:t>
            </a:r>
            <a:endParaRPr lang="en-US" sz="960" dirty="0"/>
          </a:p>
        </p:txBody>
      </p:sp>
      <p:sp>
        <p:nvSpPr>
          <p:cNvPr id="31" name="Text 25"/>
          <p:cNvSpPr/>
          <p:nvPr/>
        </p:nvSpPr>
        <p:spPr>
          <a:xfrm>
            <a:off x="7040880" y="2706624"/>
            <a:ext cx="3529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9D6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</a:t>
            </a:r>
            <a:pPr indent="0" marL="0">
              <a:buNone/>
            </a:pPr>
            <a:r>
              <a:rPr lang="en-US" sz="1150" b="1" dirty="0">
                <a:solidFill>
                  <a:srgbClr val="F6F3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住戶音箱／小螢幕</a:t>
            </a:r>
            <a:endParaRPr lang="en-US" sz="1000" dirty="0"/>
          </a:p>
        </p:txBody>
      </p:sp>
      <p:sp>
        <p:nvSpPr>
          <p:cNvPr id="32" name="Text 26"/>
          <p:cNvSpPr/>
          <p:nvPr/>
        </p:nvSpPr>
        <p:spPr>
          <a:xfrm>
            <a:off x="10524744" y="2706624"/>
            <a:ext cx="950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FB1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每戶 1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7242048" y="2953512"/>
            <a:ext cx="4215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960" dirty="0">
                <a:solidFill>
                  <a:srgbClr val="CDD8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Google 原廠，說話就能控制，也可以觸控操作。</a:t>
            </a:r>
            <a:endParaRPr lang="en-US" sz="960" dirty="0"/>
          </a:p>
        </p:txBody>
      </p:sp>
      <p:sp>
        <p:nvSpPr>
          <p:cNvPr id="34" name="Text 28"/>
          <p:cNvSpPr/>
          <p:nvPr/>
        </p:nvSpPr>
        <p:spPr>
          <a:xfrm>
            <a:off x="7040880" y="3346704"/>
            <a:ext cx="3529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B1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○ </a:t>
            </a:r>
            <a:pPr indent="0" marL="0">
              <a:buNone/>
            </a:pPr>
            <a:r>
              <a:rPr lang="en-US" sz="1150" b="1" dirty="0">
                <a:solidFill>
                  <a:srgbClr val="F6F3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大廳掃碼機</a:t>
            </a:r>
            <a:endParaRPr lang="en-US" sz="1000" dirty="0"/>
          </a:p>
        </p:txBody>
      </p:sp>
      <p:sp>
        <p:nvSpPr>
          <p:cNvPr id="35" name="Text 29"/>
          <p:cNvSpPr/>
          <p:nvPr/>
        </p:nvSpPr>
        <p:spPr>
          <a:xfrm>
            <a:off x="10524744" y="3346704"/>
            <a:ext cx="950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FB1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出入口 ×2</a:t>
            </a:r>
            <a:endParaRPr lang="en-US" sz="1000" dirty="0"/>
          </a:p>
        </p:txBody>
      </p:sp>
      <p:sp>
        <p:nvSpPr>
          <p:cNvPr id="36" name="Text 30"/>
          <p:cNvSpPr/>
          <p:nvPr/>
        </p:nvSpPr>
        <p:spPr>
          <a:xfrm>
            <a:off x="7242048" y="3593592"/>
            <a:ext cx="4215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960" dirty="0">
                <a:solidFill>
                  <a:srgbClr val="CDD8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手機出示 QR 就開門。通行碼功能已經做好，接上就能用。</a:t>
            </a:r>
            <a:endParaRPr lang="en-US" sz="960" dirty="0"/>
          </a:p>
        </p:txBody>
      </p:sp>
      <p:sp>
        <p:nvSpPr>
          <p:cNvPr id="37" name="Text 31"/>
          <p:cNvSpPr/>
          <p:nvPr/>
        </p:nvSpPr>
        <p:spPr>
          <a:xfrm>
            <a:off x="7040880" y="3986784"/>
            <a:ext cx="3529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A3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</a:t>
            </a:r>
            <a:pPr indent="0" marL="0">
              <a:buNone/>
            </a:pPr>
            <a:r>
              <a:rPr lang="en-US" sz="1150" b="1" dirty="0">
                <a:solidFill>
                  <a:srgbClr val="F6F3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全區無線網路</a:t>
            </a:r>
            <a:endParaRPr lang="en-US" sz="1000" dirty="0"/>
          </a:p>
        </p:txBody>
      </p:sp>
      <p:sp>
        <p:nvSpPr>
          <p:cNvPr id="38" name="Text 32"/>
          <p:cNvSpPr/>
          <p:nvPr/>
        </p:nvSpPr>
        <p:spPr>
          <a:xfrm>
            <a:off x="10524744" y="3986784"/>
            <a:ext cx="950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FB1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 組</a:t>
            </a:r>
            <a:endParaRPr lang="en-US" sz="1000" dirty="0"/>
          </a:p>
        </p:txBody>
      </p:sp>
      <p:sp>
        <p:nvSpPr>
          <p:cNvPr id="39" name="Text 33"/>
          <p:cNvSpPr/>
          <p:nvPr/>
        </p:nvSpPr>
        <p:spPr>
          <a:xfrm>
            <a:off x="7242048" y="4233672"/>
            <a:ext cx="4215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960" dirty="0">
                <a:solidFill>
                  <a:srgbClr val="CDD8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公設走到哪都不斷訊，健身房、交誼廳都收得到。</a:t>
            </a:r>
            <a:endParaRPr lang="en-US" sz="960" dirty="0"/>
          </a:p>
        </p:txBody>
      </p:sp>
      <p:sp>
        <p:nvSpPr>
          <p:cNvPr id="40" name="Text 34"/>
          <p:cNvSpPr/>
          <p:nvPr/>
        </p:nvSpPr>
        <p:spPr>
          <a:xfrm>
            <a:off x="7040880" y="4626864"/>
            <a:ext cx="3529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B1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○ </a:t>
            </a:r>
            <a:pPr indent="0" marL="0">
              <a:buNone/>
            </a:pPr>
            <a:r>
              <a:rPr lang="en-US" sz="1150" b="1" dirty="0">
                <a:solidFill>
                  <a:srgbClr val="F6F3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設備轉接盒</a:t>
            </a:r>
            <a:endParaRPr lang="en-US" sz="1000" dirty="0"/>
          </a:p>
        </p:txBody>
      </p:sp>
      <p:sp>
        <p:nvSpPr>
          <p:cNvPr id="41" name="Text 35"/>
          <p:cNvSpPr/>
          <p:nvPr/>
        </p:nvSpPr>
        <p:spPr>
          <a:xfrm>
            <a:off x="10524744" y="4626864"/>
            <a:ext cx="950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FB1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 式</a:t>
            </a:r>
            <a:endParaRPr lang="en-US" sz="1000" dirty="0"/>
          </a:p>
        </p:txBody>
      </p:sp>
      <p:sp>
        <p:nvSpPr>
          <p:cNvPr id="42" name="Text 36"/>
          <p:cNvSpPr/>
          <p:nvPr/>
        </p:nvSpPr>
        <p:spPr>
          <a:xfrm>
            <a:off x="7242048" y="4873752"/>
            <a:ext cx="4215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960" dirty="0">
                <a:solidFill>
                  <a:srgbClr val="CDD8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讓不同廠牌的燈光、空調設備都能連上同一套系統。</a:t>
            </a:r>
            <a:endParaRPr lang="en-US" sz="960" dirty="0"/>
          </a:p>
        </p:txBody>
      </p:sp>
      <p:sp>
        <p:nvSpPr>
          <p:cNvPr id="43" name="Shape 37"/>
          <p:cNvSpPr/>
          <p:nvPr/>
        </p:nvSpPr>
        <p:spPr>
          <a:xfrm>
            <a:off x="7004304" y="5376672"/>
            <a:ext cx="4507992" cy="475488"/>
          </a:xfrm>
          <a:prstGeom prst="roundRect">
            <a:avLst>
              <a:gd name="adj" fmla="val 13462"/>
            </a:avLst>
          </a:prstGeom>
          <a:solidFill>
            <a:srgbClr val="0E1A30">
              <a:alpha val="90000"/>
            </a:srgbClr>
          </a:solidFill>
          <a:ln w="7620">
            <a:solidFill>
              <a:srgbClr val="6FB1FF">
                <a:alpha val="55000"/>
              </a:srgbClr>
            </a:solidFill>
            <a:prstDash val="solid"/>
          </a:ln>
        </p:spPr>
      </p:sp>
      <p:sp>
        <p:nvSpPr>
          <p:cNvPr id="44" name="Text 38"/>
          <p:cNvSpPr/>
          <p:nvPr/>
        </p:nvSpPr>
        <p:spPr>
          <a:xfrm>
            <a:off x="7059168" y="5376672"/>
            <a:ext cx="43982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E6CF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住戶口碑就決定在這一階段</a:t>
            </a:r>
            <a:endParaRPr lang="en-US" sz="95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E6CF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建議至少做到這裡</a:t>
            </a:r>
            <a:endParaRPr lang="en-US" sz="950" dirty="0"/>
          </a:p>
        </p:txBody>
      </p:sp>
      <p:sp>
        <p:nvSpPr>
          <p:cNvPr id="45" name="Text 39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74A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分階段導入規劃 ── 階段 3　住戶入住</a:t>
            </a:r>
            <a:endParaRPr lang="en-US" sz="1050" dirty="0"/>
          </a:p>
        </p:txBody>
      </p:sp>
      <p:sp>
        <p:nvSpPr>
          <p:cNvPr id="46" name="Text 40"/>
          <p:cNvSpPr/>
          <p:nvPr/>
        </p:nvSpPr>
        <p:spPr>
          <a:xfrm>
            <a:off x="5486400" y="6510528"/>
            <a:ext cx="6153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E74A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階段 1 → 2 → 3 → 4　　目前：階段 3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A35A"/>
                </a:solidFill>
              </a:rPr>
              <a:t>STAGE 4 · AFTER FULL OCCUPANCY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530352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6F3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階段 4　住滿之後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133856"/>
            <a:ext cx="8778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0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全部是選配 —— 營運上軌道之後，想加哪一項就加哪一項，不用一次到位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8595360" y="457200"/>
            <a:ext cx="3044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FB0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時間點
</a:t>
            </a:r>
            <a:pPr algn="r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E6CF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營運上軌道再加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120640" y="1170432"/>
            <a:ext cx="6519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9D6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</a:t>
            </a:r>
            <a:pPr algn="r" indent="0" marL="0">
              <a:buNone/>
            </a:pPr>
            <a:r>
              <a:rPr lang="en-US" sz="1050" dirty="0">
                <a:solidFill>
                  <a:srgbClr val="CDD8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已做好・可直接展示　</a:t>
            </a:r>
            <a:pPr algn="r" indent="0" marL="0">
              <a:buNone/>
            </a:pPr>
            <a:r>
              <a:rPr lang="en-US" sz="1050" dirty="0">
                <a:solidFill>
                  <a:srgbClr val="C9A3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</a:t>
            </a:r>
            <a:pPr algn="r" indent="0" marL="0">
              <a:buNone/>
            </a:pPr>
            <a:r>
              <a:rPr lang="en-US" sz="1050" dirty="0">
                <a:solidFill>
                  <a:srgbClr val="CDD8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建議一定要裝　</a:t>
            </a:r>
            <a:pPr algn="r" indent="0" marL="0">
              <a:buNone/>
            </a:pPr>
            <a:r>
              <a:rPr lang="en-US" sz="1050" dirty="0">
                <a:solidFill>
                  <a:srgbClr val="6FB1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○ </a:t>
            </a:r>
            <a:pPr algn="r" indent="0" marL="0">
              <a:buNone/>
            </a:pPr>
            <a:r>
              <a:rPr lang="en-US" sz="1050" dirty="0">
                <a:solidFill>
                  <a:srgbClr val="CDD8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之後想加再加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572768"/>
            <a:ext cx="6172200" cy="4370832"/>
          </a:xfrm>
          <a:prstGeom prst="roundRect">
            <a:avLst>
              <a:gd name="adj" fmla="val 2301"/>
            </a:avLst>
          </a:prstGeom>
          <a:solidFill>
            <a:srgbClr val="12203A">
              <a:alpha val="80000"/>
            </a:srgbClr>
          </a:solidFill>
          <a:ln w="9525">
            <a:solidFill>
              <a:srgbClr val="C9A35A">
                <a:alpha val="42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572768"/>
            <a:ext cx="82296" cy="4370832"/>
          </a:xfrm>
          <a:prstGeom prst="roundRect">
            <a:avLst>
              <a:gd name="adj" fmla="val 44444"/>
            </a:avLst>
          </a:prstGeom>
          <a:solidFill>
            <a:srgbClr val="E6CF9A"/>
          </a:solidFill>
          <a:ln/>
        </p:spPr>
      </p:sp>
      <p:sp>
        <p:nvSpPr>
          <p:cNvPr id="9" name="Text 7"/>
          <p:cNvSpPr/>
          <p:nvPr/>
        </p:nvSpPr>
        <p:spPr>
          <a:xfrm>
            <a:off x="713232" y="1700784"/>
            <a:ext cx="5715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CF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客戶／住戶會看到什麼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49808" y="2157984"/>
            <a:ext cx="548640" cy="548640"/>
          </a:xfrm>
          <a:prstGeom prst="ellipse">
            <a:avLst/>
          </a:prstGeom>
          <a:solidFill>
            <a:srgbClr val="0F1C33"/>
          </a:solidFill>
          <a:ln w="10795">
            <a:solidFill>
              <a:srgbClr val="E6CF9A">
                <a:alpha val="65000"/>
              </a:srgbClr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276856"/>
            <a:ext cx="310896" cy="310896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463040" y="2139696"/>
            <a:ext cx="4965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6F3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車子開到門口自動放行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1463040" y="2450592"/>
            <a:ext cx="494690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DD8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認車牌，不用停車拿卡、不用降車窗 —— 下雨天最有感。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749808" y="3099816"/>
            <a:ext cx="548640" cy="548640"/>
          </a:xfrm>
          <a:prstGeom prst="ellipse">
            <a:avLst/>
          </a:prstGeom>
          <a:solidFill>
            <a:srgbClr val="0F1C33"/>
          </a:solidFill>
          <a:ln w="10795">
            <a:solidFill>
              <a:srgbClr val="E6CF9A">
                <a:alpha val="65000"/>
              </a:srgbClr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218688"/>
            <a:ext cx="310896" cy="31089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463040" y="3081528"/>
            <a:ext cx="4965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6F3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包裹自己取，不用等管理員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1463040" y="3392424"/>
            <a:ext cx="494690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DD8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手機收到取件碼，掃碼開櫃，半夜回家也拿得到。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749808" y="4041648"/>
            <a:ext cx="548640" cy="548640"/>
          </a:xfrm>
          <a:prstGeom prst="ellipse">
            <a:avLst/>
          </a:prstGeom>
          <a:solidFill>
            <a:srgbClr val="0F1C33"/>
          </a:solidFill>
          <a:ln w="10795">
            <a:solidFill>
              <a:srgbClr val="E6CF9A">
                <a:alpha val="65000"/>
              </a:srgbClr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160520"/>
            <a:ext cx="310896" cy="31089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463040" y="4023360"/>
            <a:ext cx="4965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6F3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刷完卡電梯自動到你家樓層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1463040" y="4334256"/>
            <a:ext cx="494690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DD8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不用再按樓層，也順便擋掉不該上樓的人。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749808" y="4983480"/>
            <a:ext cx="548640" cy="548640"/>
          </a:xfrm>
          <a:prstGeom prst="ellipse">
            <a:avLst/>
          </a:prstGeom>
          <a:solidFill>
            <a:srgbClr val="0F1C33"/>
          </a:solidFill>
          <a:ln w="10795">
            <a:solidFill>
              <a:srgbClr val="E6CF9A">
                <a:alpha val="65000"/>
              </a:srgbClr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5102352"/>
            <a:ext cx="310896" cy="310896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463040" y="4965192"/>
            <a:ext cx="4965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6F3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大廳大螢幕迎賓</a:t>
            </a:r>
            <a:endParaRPr lang="en-US" sz="1350" dirty="0"/>
          </a:p>
        </p:txBody>
      </p:sp>
      <p:sp>
        <p:nvSpPr>
          <p:cNvPr id="25" name="Text 19"/>
          <p:cNvSpPr/>
          <p:nvPr/>
        </p:nvSpPr>
        <p:spPr>
          <a:xfrm>
            <a:off x="1463040" y="5276088"/>
            <a:ext cx="494690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DD8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顯示社區公告、活動、訪客歡迎詞，公設質感再提一級。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6784848" y="1572768"/>
            <a:ext cx="4946904" cy="4370832"/>
          </a:xfrm>
          <a:prstGeom prst="roundRect">
            <a:avLst>
              <a:gd name="adj" fmla="val 2301"/>
            </a:avLst>
          </a:prstGeom>
          <a:solidFill>
            <a:srgbClr val="14253F">
              <a:alpha val="88000"/>
            </a:srgbClr>
          </a:solidFill>
          <a:ln w="9525">
            <a:solidFill>
              <a:srgbClr val="C9A35A">
                <a:alpha val="42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sp>
        <p:nvSpPr>
          <p:cNvPr id="27" name="Text 21"/>
          <p:cNvSpPr/>
          <p:nvPr/>
        </p:nvSpPr>
        <p:spPr>
          <a:xfrm>
            <a:off x="7040880" y="1700784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CF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這階段要裝的東西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7040880" y="2066544"/>
            <a:ext cx="3529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B1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○ </a:t>
            </a:r>
            <a:pPr indent="0" marL="0">
              <a:buNone/>
            </a:pPr>
            <a:r>
              <a:rPr lang="en-US" sz="1150" b="1" dirty="0">
                <a:solidFill>
                  <a:srgbClr val="F6F3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車牌辨識柵欄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10524744" y="2066544"/>
            <a:ext cx="950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6CF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車道 ×1</a:t>
            </a:r>
            <a:endParaRPr lang="en-US" sz="1000" dirty="0"/>
          </a:p>
        </p:txBody>
      </p:sp>
      <p:sp>
        <p:nvSpPr>
          <p:cNvPr id="30" name="Text 24"/>
          <p:cNvSpPr/>
          <p:nvPr/>
        </p:nvSpPr>
        <p:spPr>
          <a:xfrm>
            <a:off x="7242048" y="2313432"/>
            <a:ext cx="4215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960" dirty="0">
                <a:solidFill>
                  <a:srgbClr val="CDD8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認車牌自動開柵欄，住戶車不用停。</a:t>
            </a:r>
            <a:endParaRPr lang="en-US" sz="960" dirty="0"/>
          </a:p>
        </p:txBody>
      </p:sp>
      <p:sp>
        <p:nvSpPr>
          <p:cNvPr id="31" name="Text 25"/>
          <p:cNvSpPr/>
          <p:nvPr/>
        </p:nvSpPr>
        <p:spPr>
          <a:xfrm>
            <a:off x="7040880" y="2706624"/>
            <a:ext cx="3529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B1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○ </a:t>
            </a:r>
            <a:pPr indent="0" marL="0">
              <a:buNone/>
            </a:pPr>
            <a:r>
              <a:rPr lang="en-US" sz="1150" b="1" dirty="0">
                <a:solidFill>
                  <a:srgbClr val="F6F3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智能包裹櫃</a:t>
            </a:r>
            <a:endParaRPr lang="en-US" sz="1000" dirty="0"/>
          </a:p>
        </p:txBody>
      </p:sp>
      <p:sp>
        <p:nvSpPr>
          <p:cNvPr id="32" name="Text 26"/>
          <p:cNvSpPr/>
          <p:nvPr/>
        </p:nvSpPr>
        <p:spPr>
          <a:xfrm>
            <a:off x="10524744" y="2706624"/>
            <a:ext cx="950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6CF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 組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7242048" y="2953512"/>
            <a:ext cx="4215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960" dirty="0">
                <a:solidFill>
                  <a:srgbClr val="CDD8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20–40 格，掃碼取件，管理員不用代收。</a:t>
            </a:r>
            <a:endParaRPr lang="en-US" sz="960" dirty="0"/>
          </a:p>
        </p:txBody>
      </p:sp>
      <p:sp>
        <p:nvSpPr>
          <p:cNvPr id="34" name="Text 28"/>
          <p:cNvSpPr/>
          <p:nvPr/>
        </p:nvSpPr>
        <p:spPr>
          <a:xfrm>
            <a:off x="7040880" y="3346704"/>
            <a:ext cx="3529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B1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○ </a:t>
            </a:r>
            <a:pPr indent="0" marL="0">
              <a:buNone/>
            </a:pPr>
            <a:r>
              <a:rPr lang="en-US" sz="1150" b="1" dirty="0">
                <a:solidFill>
                  <a:srgbClr val="F6F3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電梯連動控制器</a:t>
            </a:r>
            <a:endParaRPr lang="en-US" sz="1000" dirty="0"/>
          </a:p>
        </p:txBody>
      </p:sp>
      <p:sp>
        <p:nvSpPr>
          <p:cNvPr id="35" name="Text 29"/>
          <p:cNvSpPr/>
          <p:nvPr/>
        </p:nvSpPr>
        <p:spPr>
          <a:xfrm>
            <a:off x="10524744" y="3346704"/>
            <a:ext cx="950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6CF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每梯 ×1</a:t>
            </a:r>
            <a:endParaRPr lang="en-US" sz="1000" dirty="0"/>
          </a:p>
        </p:txBody>
      </p:sp>
      <p:sp>
        <p:nvSpPr>
          <p:cNvPr id="36" name="Text 30"/>
          <p:cNvSpPr/>
          <p:nvPr/>
        </p:nvSpPr>
        <p:spPr>
          <a:xfrm>
            <a:off x="7242048" y="3593592"/>
            <a:ext cx="4215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960" dirty="0">
                <a:solidFill>
                  <a:srgbClr val="CDD8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刷卡後自動送到住戶樓層。</a:t>
            </a:r>
            <a:endParaRPr lang="en-US" sz="960" dirty="0"/>
          </a:p>
        </p:txBody>
      </p:sp>
      <p:sp>
        <p:nvSpPr>
          <p:cNvPr id="37" name="Text 31"/>
          <p:cNvSpPr/>
          <p:nvPr/>
        </p:nvSpPr>
        <p:spPr>
          <a:xfrm>
            <a:off x="7040880" y="3986784"/>
            <a:ext cx="3529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B1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○ </a:t>
            </a:r>
            <a:pPr indent="0" marL="0">
              <a:buNone/>
            </a:pPr>
            <a:r>
              <a:rPr lang="en-US" sz="1150" b="1" dirty="0">
                <a:solidFill>
                  <a:srgbClr val="F6F3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大廳資訊大螢幕</a:t>
            </a:r>
            <a:endParaRPr lang="en-US" sz="1000" dirty="0"/>
          </a:p>
        </p:txBody>
      </p:sp>
      <p:sp>
        <p:nvSpPr>
          <p:cNvPr id="38" name="Text 32"/>
          <p:cNvSpPr/>
          <p:nvPr/>
        </p:nvSpPr>
        <p:spPr>
          <a:xfrm>
            <a:off x="10524744" y="3986784"/>
            <a:ext cx="950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6CF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 台</a:t>
            </a:r>
            <a:endParaRPr lang="en-US" sz="1000" dirty="0"/>
          </a:p>
        </p:txBody>
      </p:sp>
      <p:sp>
        <p:nvSpPr>
          <p:cNvPr id="39" name="Text 33"/>
          <p:cNvSpPr/>
          <p:nvPr/>
        </p:nvSpPr>
        <p:spPr>
          <a:xfrm>
            <a:off x="7242048" y="4233672"/>
            <a:ext cx="4215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960" dirty="0">
                <a:solidFill>
                  <a:srgbClr val="CDD8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公設迎賓、活動看板。</a:t>
            </a:r>
            <a:endParaRPr lang="en-US" sz="960" dirty="0"/>
          </a:p>
        </p:txBody>
      </p:sp>
      <p:sp>
        <p:nvSpPr>
          <p:cNvPr id="40" name="Text 34"/>
          <p:cNvSpPr/>
          <p:nvPr/>
        </p:nvSpPr>
        <p:spPr>
          <a:xfrm>
            <a:off x="7040880" y="4626864"/>
            <a:ext cx="3529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B1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○ </a:t>
            </a:r>
            <a:pPr indent="0" marL="0">
              <a:buNone/>
            </a:pPr>
            <a:r>
              <a:rPr lang="en-US" sz="1150" b="1" dirty="0">
                <a:solidFill>
                  <a:srgbClr val="F6F3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語音服務搬回社區</a:t>
            </a:r>
            <a:endParaRPr lang="en-US" sz="1000" dirty="0"/>
          </a:p>
        </p:txBody>
      </p:sp>
      <p:sp>
        <p:nvSpPr>
          <p:cNvPr id="41" name="Text 35"/>
          <p:cNvSpPr/>
          <p:nvPr/>
        </p:nvSpPr>
        <p:spPr>
          <a:xfrm>
            <a:off x="10524744" y="4626864"/>
            <a:ext cx="950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6CF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 式</a:t>
            </a:r>
            <a:endParaRPr lang="en-US" sz="1000" dirty="0"/>
          </a:p>
        </p:txBody>
      </p:sp>
      <p:sp>
        <p:nvSpPr>
          <p:cNvPr id="42" name="Text 36"/>
          <p:cNvSpPr/>
          <p:nvPr/>
        </p:nvSpPr>
        <p:spPr>
          <a:xfrm>
            <a:off x="7242048" y="4873752"/>
            <a:ext cx="4215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960" dirty="0">
                <a:solidFill>
                  <a:srgbClr val="CDD8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對話資料留在自己手上，系統也多一層備援。</a:t>
            </a:r>
            <a:endParaRPr lang="en-US" sz="960" dirty="0"/>
          </a:p>
        </p:txBody>
      </p:sp>
      <p:sp>
        <p:nvSpPr>
          <p:cNvPr id="43" name="Shape 37"/>
          <p:cNvSpPr/>
          <p:nvPr/>
        </p:nvSpPr>
        <p:spPr>
          <a:xfrm>
            <a:off x="7004304" y="5376672"/>
            <a:ext cx="4507992" cy="475488"/>
          </a:xfrm>
          <a:prstGeom prst="roundRect">
            <a:avLst>
              <a:gd name="adj" fmla="val 13462"/>
            </a:avLst>
          </a:prstGeom>
          <a:solidFill>
            <a:srgbClr val="0E1A30">
              <a:alpha val="90000"/>
            </a:srgbClr>
          </a:solidFill>
          <a:ln w="7620">
            <a:solidFill>
              <a:srgbClr val="E6CF9A">
                <a:alpha val="55000"/>
              </a:srgbClr>
            </a:solidFill>
            <a:prstDash val="solid"/>
          </a:ln>
        </p:spPr>
      </p:sp>
      <p:sp>
        <p:nvSpPr>
          <p:cNvPr id="44" name="Text 38"/>
          <p:cNvSpPr/>
          <p:nvPr/>
        </p:nvSpPr>
        <p:spPr>
          <a:xfrm>
            <a:off x="7059168" y="5376672"/>
            <a:ext cx="43982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E6CF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全部選配，可以一項一項加</a:t>
            </a:r>
            <a:endParaRPr lang="en-US" sz="95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E6CF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不影響前三階段已經在用的功能</a:t>
            </a:r>
            <a:endParaRPr lang="en-US" sz="950" dirty="0"/>
          </a:p>
        </p:txBody>
      </p:sp>
      <p:sp>
        <p:nvSpPr>
          <p:cNvPr id="45" name="Text 39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74A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分階段導入規劃 ── 階段 4　住滿之後</a:t>
            </a:r>
            <a:endParaRPr lang="en-US" sz="1050" dirty="0"/>
          </a:p>
        </p:txBody>
      </p:sp>
      <p:sp>
        <p:nvSpPr>
          <p:cNvPr id="46" name="Text 40"/>
          <p:cNvSpPr/>
          <p:nvPr/>
        </p:nvSpPr>
        <p:spPr>
          <a:xfrm>
            <a:off x="5486400" y="6510528"/>
            <a:ext cx="6153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E74A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階段 1 → 2 → 3 → 4　　目前：階段 4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A35A"/>
                </a:solidFill>
              </a:rPr>
              <a:t>WHAT RESIDENTS ACTUALLY USE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530352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6F3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住戶最有感的六個功能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133856"/>
            <a:ext cx="8778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0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介紹時講這六個就夠 —— 每一個都可以現場演，右下角是客戶通常會有的反應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8595360" y="457200"/>
            <a:ext cx="3044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FB0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現場話術
</a:t>
            </a:r>
            <a:pPr algn="r"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69D6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六個功能・全部已做好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200" y="1627632"/>
            <a:ext cx="3703320" cy="2121408"/>
          </a:xfrm>
          <a:prstGeom prst="roundRect">
            <a:avLst>
              <a:gd name="adj" fmla="val 4741"/>
            </a:avLst>
          </a:prstGeom>
          <a:solidFill>
            <a:srgbClr val="13241D">
              <a:alpha val="90000"/>
            </a:srgbClr>
          </a:solidFill>
          <a:ln w="12700">
            <a:solidFill>
              <a:srgbClr val="69D6A8">
                <a:alpha val="58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94944" y="1847088"/>
            <a:ext cx="658368" cy="658368"/>
          </a:xfrm>
          <a:prstGeom prst="ellipse">
            <a:avLst/>
          </a:prstGeom>
          <a:solidFill>
            <a:srgbClr val="0F1C33"/>
          </a:solidFill>
          <a:ln w="11430">
            <a:solidFill>
              <a:srgbClr val="69D6A8">
                <a:alpha val="70000"/>
              </a:srgbClr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2011680"/>
            <a:ext cx="329184" cy="3291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81328" y="1901952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6F3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一句話訂公設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713232" y="2651760"/>
            <a:ext cx="3191256" cy="0"/>
          </a:xfrm>
          <a:prstGeom prst="line">
            <a:avLst/>
          </a:prstGeom>
          <a:noFill/>
          <a:ln w="6350">
            <a:solidFill>
              <a:srgbClr val="C9A35A">
                <a:alpha val="45000"/>
              </a:srgbClr>
            </a:solidFill>
            <a:prstDash val="dash"/>
          </a:ln>
        </p:spPr>
      </p:sp>
      <p:sp>
        <p:nvSpPr>
          <p:cNvPr id="11" name="Text 8"/>
          <p:cNvSpPr/>
          <p:nvPr/>
        </p:nvSpPr>
        <p:spPr>
          <a:xfrm>
            <a:off x="731520" y="2724912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DD8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「幫我訂週六下午的健身房」——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DD8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說完就訂好，管理室同步收到。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731520" y="3291840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i="1" dirty="0">
                <a:solidFill>
                  <a:srgbClr val="E6CF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「這個真的假的？」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334256" y="1627632"/>
            <a:ext cx="3703320" cy="2121408"/>
          </a:xfrm>
          <a:prstGeom prst="roundRect">
            <a:avLst>
              <a:gd name="adj" fmla="val 4741"/>
            </a:avLst>
          </a:prstGeom>
          <a:solidFill>
            <a:srgbClr val="13241D">
              <a:alpha val="90000"/>
            </a:srgbClr>
          </a:solidFill>
          <a:ln w="12700">
            <a:solidFill>
              <a:srgbClr val="69D6A8">
                <a:alpha val="58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572000" y="1847088"/>
            <a:ext cx="658368" cy="658368"/>
          </a:xfrm>
          <a:prstGeom prst="ellipse">
            <a:avLst/>
          </a:prstGeom>
          <a:solidFill>
            <a:srgbClr val="0F1C33"/>
          </a:solidFill>
          <a:ln w="11430">
            <a:solidFill>
              <a:srgbClr val="69D6A8">
                <a:alpha val="70000"/>
              </a:srgbClr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6592" y="2011680"/>
            <a:ext cx="329184" cy="32918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358384" y="1901952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6F3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語音開燈開冷氣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4590288" y="2651760"/>
            <a:ext cx="3191256" cy="0"/>
          </a:xfrm>
          <a:prstGeom prst="line">
            <a:avLst/>
          </a:prstGeom>
          <a:noFill/>
          <a:ln w="6350">
            <a:solidFill>
              <a:srgbClr val="C9A35A">
                <a:alpha val="45000"/>
              </a:srgbClr>
            </a:solidFill>
            <a:prstDash val="dash"/>
          </a:ln>
        </p:spPr>
      </p:sp>
      <p:sp>
        <p:nvSpPr>
          <p:cNvPr id="18" name="Text 14"/>
          <p:cNvSpPr/>
          <p:nvPr/>
        </p:nvSpPr>
        <p:spPr>
          <a:xfrm>
            <a:off x="4608576" y="2724912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DD8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「我回來了」——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DD8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燈亮、冷氣開、窗簾拉開。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4608576" y="3291840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i="1" dirty="0">
                <a:solidFill>
                  <a:srgbClr val="E6CF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「阿嬤也會用」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8211312" y="1627632"/>
            <a:ext cx="3703320" cy="2121408"/>
          </a:xfrm>
          <a:prstGeom prst="roundRect">
            <a:avLst>
              <a:gd name="adj" fmla="val 4741"/>
            </a:avLst>
          </a:prstGeom>
          <a:solidFill>
            <a:srgbClr val="13241D">
              <a:alpha val="90000"/>
            </a:srgbClr>
          </a:solidFill>
          <a:ln w="12700">
            <a:solidFill>
              <a:srgbClr val="69D6A8">
                <a:alpha val="58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8449056" y="1847088"/>
            <a:ext cx="658368" cy="658368"/>
          </a:xfrm>
          <a:prstGeom prst="ellipse">
            <a:avLst/>
          </a:prstGeom>
          <a:solidFill>
            <a:srgbClr val="0F1C33"/>
          </a:solidFill>
          <a:ln w="11430">
            <a:solidFill>
              <a:srgbClr val="69D6A8">
                <a:alpha val="70000"/>
              </a:srgbClr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3648" y="2011680"/>
            <a:ext cx="329184" cy="32918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9235440" y="1901952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6F3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包裹到件通知</a:t>
            </a:r>
            <a:endParaRPr lang="en-US" sz="1500" dirty="0"/>
          </a:p>
        </p:txBody>
      </p:sp>
      <p:sp>
        <p:nvSpPr>
          <p:cNvPr id="24" name="Shape 19"/>
          <p:cNvSpPr/>
          <p:nvPr/>
        </p:nvSpPr>
        <p:spPr>
          <a:xfrm>
            <a:off x="8467344" y="2651760"/>
            <a:ext cx="3191256" cy="0"/>
          </a:xfrm>
          <a:prstGeom prst="line">
            <a:avLst/>
          </a:prstGeom>
          <a:noFill/>
          <a:ln w="6350">
            <a:solidFill>
              <a:srgbClr val="C9A35A">
                <a:alpha val="45000"/>
              </a:srgbClr>
            </a:solidFill>
            <a:prstDash val="dash"/>
          </a:ln>
        </p:spPr>
      </p:sp>
      <p:sp>
        <p:nvSpPr>
          <p:cNvPr id="25" name="Text 20"/>
          <p:cNvSpPr/>
          <p:nvPr/>
        </p:nvSpPr>
        <p:spPr>
          <a:xfrm>
            <a:off x="8485632" y="2724912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DD8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包裹一登記，手機跟 LINE 馬上通知，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DD8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誰領走的都有紀錄。</a:t>
            </a:r>
            <a:endParaRPr lang="en-US" sz="1050" dirty="0"/>
          </a:p>
        </p:txBody>
      </p:sp>
      <p:sp>
        <p:nvSpPr>
          <p:cNvPr id="26" name="Text 21"/>
          <p:cNvSpPr/>
          <p:nvPr/>
        </p:nvSpPr>
        <p:spPr>
          <a:xfrm>
            <a:off x="8485632" y="3291840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i="1" dirty="0">
                <a:solidFill>
                  <a:srgbClr val="E6CF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「不用再一直問管理員」</a:t>
            </a:r>
            <a:endParaRPr lang="en-US" sz="1050" dirty="0"/>
          </a:p>
        </p:txBody>
      </p:sp>
      <p:sp>
        <p:nvSpPr>
          <p:cNvPr id="27" name="Shape 22"/>
          <p:cNvSpPr/>
          <p:nvPr/>
        </p:nvSpPr>
        <p:spPr>
          <a:xfrm>
            <a:off x="457200" y="3931920"/>
            <a:ext cx="3703320" cy="2121408"/>
          </a:xfrm>
          <a:prstGeom prst="roundRect">
            <a:avLst>
              <a:gd name="adj" fmla="val 4741"/>
            </a:avLst>
          </a:prstGeom>
          <a:solidFill>
            <a:srgbClr val="13241D">
              <a:alpha val="90000"/>
            </a:srgbClr>
          </a:solidFill>
          <a:ln w="12700">
            <a:solidFill>
              <a:srgbClr val="69D6A8">
                <a:alpha val="58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694944" y="4151376"/>
            <a:ext cx="658368" cy="658368"/>
          </a:xfrm>
          <a:prstGeom prst="ellipse">
            <a:avLst/>
          </a:prstGeom>
          <a:solidFill>
            <a:srgbClr val="0F1C33"/>
          </a:solidFill>
          <a:ln w="11430">
            <a:solidFill>
              <a:srgbClr val="69D6A8">
                <a:alpha val="70000"/>
              </a:srgbClr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536" y="4315968"/>
            <a:ext cx="329184" cy="329184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1481328" y="420624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6F3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手機報修看進度</a:t>
            </a:r>
            <a:endParaRPr lang="en-US" sz="1500" dirty="0"/>
          </a:p>
        </p:txBody>
      </p:sp>
      <p:sp>
        <p:nvSpPr>
          <p:cNvPr id="31" name="Shape 25"/>
          <p:cNvSpPr/>
          <p:nvPr/>
        </p:nvSpPr>
        <p:spPr>
          <a:xfrm>
            <a:off x="713232" y="4956048"/>
            <a:ext cx="3191256" cy="0"/>
          </a:xfrm>
          <a:prstGeom prst="line">
            <a:avLst/>
          </a:prstGeom>
          <a:noFill/>
          <a:ln w="6350">
            <a:solidFill>
              <a:srgbClr val="C9A35A">
                <a:alpha val="45000"/>
              </a:srgbClr>
            </a:solidFill>
            <a:prstDash val="dash"/>
          </a:ln>
        </p:spPr>
      </p:sp>
      <p:sp>
        <p:nvSpPr>
          <p:cNvPr id="32" name="Text 26"/>
          <p:cNvSpPr/>
          <p:nvPr/>
        </p:nvSpPr>
        <p:spPr>
          <a:xfrm>
            <a:off x="731520" y="502920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DD8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拍照上傳就派工，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DD8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師傅到哪一步住戶自己看得到。</a:t>
            </a:r>
            <a:endParaRPr lang="en-US" sz="1050" dirty="0"/>
          </a:p>
        </p:txBody>
      </p:sp>
      <p:sp>
        <p:nvSpPr>
          <p:cNvPr id="33" name="Text 27"/>
          <p:cNvSpPr/>
          <p:nvPr/>
        </p:nvSpPr>
        <p:spPr>
          <a:xfrm>
            <a:off x="731520" y="5596128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i="1" dirty="0">
                <a:solidFill>
                  <a:srgbClr val="E6CF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「不用再追著問」</a:t>
            </a:r>
            <a:endParaRPr lang="en-US" sz="1050" dirty="0"/>
          </a:p>
        </p:txBody>
      </p:sp>
      <p:sp>
        <p:nvSpPr>
          <p:cNvPr id="34" name="Shape 28"/>
          <p:cNvSpPr/>
          <p:nvPr/>
        </p:nvSpPr>
        <p:spPr>
          <a:xfrm>
            <a:off x="4334256" y="3931920"/>
            <a:ext cx="3703320" cy="2121408"/>
          </a:xfrm>
          <a:prstGeom prst="roundRect">
            <a:avLst>
              <a:gd name="adj" fmla="val 4741"/>
            </a:avLst>
          </a:prstGeom>
          <a:solidFill>
            <a:srgbClr val="13241D">
              <a:alpha val="90000"/>
            </a:srgbClr>
          </a:solidFill>
          <a:ln w="12700">
            <a:solidFill>
              <a:srgbClr val="69D6A8">
                <a:alpha val="58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sp>
        <p:nvSpPr>
          <p:cNvPr id="35" name="Shape 29"/>
          <p:cNvSpPr/>
          <p:nvPr/>
        </p:nvSpPr>
        <p:spPr>
          <a:xfrm>
            <a:off x="4572000" y="4151376"/>
            <a:ext cx="658368" cy="658368"/>
          </a:xfrm>
          <a:prstGeom prst="ellipse">
            <a:avLst/>
          </a:prstGeom>
          <a:solidFill>
            <a:srgbClr val="0F1C33"/>
          </a:solidFill>
          <a:ln w="11430">
            <a:solidFill>
              <a:srgbClr val="69D6A8">
                <a:alpha val="70000"/>
              </a:srgbClr>
            </a:solidFill>
            <a:prstDash val="solid"/>
          </a:ln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36592" y="4315968"/>
            <a:ext cx="329184" cy="329184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5358384" y="420624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6F3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管理費線上繳</a:t>
            </a:r>
            <a:endParaRPr lang="en-US" sz="1500" dirty="0"/>
          </a:p>
        </p:txBody>
      </p:sp>
      <p:sp>
        <p:nvSpPr>
          <p:cNvPr id="38" name="Shape 31"/>
          <p:cNvSpPr/>
          <p:nvPr/>
        </p:nvSpPr>
        <p:spPr>
          <a:xfrm>
            <a:off x="4590288" y="4956048"/>
            <a:ext cx="3191256" cy="0"/>
          </a:xfrm>
          <a:prstGeom prst="line">
            <a:avLst/>
          </a:prstGeom>
          <a:noFill/>
          <a:ln w="6350">
            <a:solidFill>
              <a:srgbClr val="C9A35A">
                <a:alpha val="45000"/>
              </a:srgbClr>
            </a:solidFill>
            <a:prstDash val="dash"/>
          </a:ln>
        </p:spPr>
      </p:sp>
      <p:sp>
        <p:nvSpPr>
          <p:cNvPr id="39" name="Text 32"/>
          <p:cNvSpPr/>
          <p:nvPr/>
        </p:nvSpPr>
        <p:spPr>
          <a:xfrm>
            <a:off x="4608576" y="502920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DD8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帳單、繳費紀錄一次看清楚，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DD8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催繳系統自動發。</a:t>
            </a:r>
            <a:endParaRPr lang="en-US" sz="1050" dirty="0"/>
          </a:p>
        </p:txBody>
      </p:sp>
      <p:sp>
        <p:nvSpPr>
          <p:cNvPr id="40" name="Text 33"/>
          <p:cNvSpPr/>
          <p:nvPr/>
        </p:nvSpPr>
        <p:spPr>
          <a:xfrm>
            <a:off x="4608576" y="5596128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i="1" dirty="0">
                <a:solidFill>
                  <a:srgbClr val="E6CF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「省掉一堆紙本」</a:t>
            </a:r>
            <a:endParaRPr lang="en-US" sz="1050" dirty="0"/>
          </a:p>
        </p:txBody>
      </p:sp>
      <p:sp>
        <p:nvSpPr>
          <p:cNvPr id="41" name="Shape 34"/>
          <p:cNvSpPr/>
          <p:nvPr/>
        </p:nvSpPr>
        <p:spPr>
          <a:xfrm>
            <a:off x="8211312" y="3931920"/>
            <a:ext cx="3703320" cy="2121408"/>
          </a:xfrm>
          <a:prstGeom prst="roundRect">
            <a:avLst>
              <a:gd name="adj" fmla="val 4741"/>
            </a:avLst>
          </a:prstGeom>
          <a:solidFill>
            <a:srgbClr val="13241D">
              <a:alpha val="90000"/>
            </a:srgbClr>
          </a:solidFill>
          <a:ln w="12700">
            <a:solidFill>
              <a:srgbClr val="69D6A8">
                <a:alpha val="58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sp>
        <p:nvSpPr>
          <p:cNvPr id="42" name="Shape 35"/>
          <p:cNvSpPr/>
          <p:nvPr/>
        </p:nvSpPr>
        <p:spPr>
          <a:xfrm>
            <a:off x="8449056" y="4151376"/>
            <a:ext cx="658368" cy="658368"/>
          </a:xfrm>
          <a:prstGeom prst="ellipse">
            <a:avLst/>
          </a:prstGeom>
          <a:solidFill>
            <a:srgbClr val="0F1C33"/>
          </a:solidFill>
          <a:ln w="11430">
            <a:solidFill>
              <a:srgbClr val="69D6A8">
                <a:alpha val="70000"/>
              </a:srgbClr>
            </a:solidFill>
            <a:prstDash val="solid"/>
          </a:ln>
        </p:spPr>
      </p:sp>
      <p:pic>
        <p:nvPicPr>
          <p:cNvPr id="43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13648" y="4315968"/>
            <a:ext cx="329184" cy="329184"/>
          </a:xfrm>
          <a:prstGeom prst="rect">
            <a:avLst/>
          </a:prstGeom>
        </p:spPr>
      </p:pic>
      <p:sp>
        <p:nvSpPr>
          <p:cNvPr id="44" name="Text 36"/>
          <p:cNvSpPr/>
          <p:nvPr/>
        </p:nvSpPr>
        <p:spPr>
          <a:xfrm>
            <a:off x="9235440" y="420624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6F3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手機開門・訪客碼</a:t>
            </a:r>
            <a:endParaRPr lang="en-US" sz="1500" dirty="0"/>
          </a:p>
        </p:txBody>
      </p:sp>
      <p:sp>
        <p:nvSpPr>
          <p:cNvPr id="45" name="Shape 37"/>
          <p:cNvSpPr/>
          <p:nvPr/>
        </p:nvSpPr>
        <p:spPr>
          <a:xfrm>
            <a:off x="8467344" y="4956048"/>
            <a:ext cx="3191256" cy="0"/>
          </a:xfrm>
          <a:prstGeom prst="line">
            <a:avLst/>
          </a:prstGeom>
          <a:noFill/>
          <a:ln w="6350">
            <a:solidFill>
              <a:srgbClr val="C9A35A">
                <a:alpha val="45000"/>
              </a:srgbClr>
            </a:solidFill>
            <a:prstDash val="dash"/>
          </a:ln>
        </p:spPr>
      </p:sp>
      <p:sp>
        <p:nvSpPr>
          <p:cNvPr id="46" name="Text 38"/>
          <p:cNvSpPr/>
          <p:nvPr/>
        </p:nvSpPr>
        <p:spPr>
          <a:xfrm>
            <a:off x="8485632" y="502920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DD8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手機出示 QR 進門；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DD8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訪客發臨時碼，時間到自動失效。</a:t>
            </a:r>
            <a:endParaRPr lang="en-US" sz="1050" dirty="0"/>
          </a:p>
        </p:txBody>
      </p:sp>
      <p:sp>
        <p:nvSpPr>
          <p:cNvPr id="47" name="Text 39"/>
          <p:cNvSpPr/>
          <p:nvPr/>
        </p:nvSpPr>
        <p:spPr>
          <a:xfrm>
            <a:off x="8485632" y="5596128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i="1" dirty="0">
                <a:solidFill>
                  <a:srgbClr val="E6CF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「不用再跑下樓開門」</a:t>
            </a:r>
            <a:endParaRPr lang="en-US" sz="1050" dirty="0"/>
          </a:p>
        </p:txBody>
      </p:sp>
      <p:sp>
        <p:nvSpPr>
          <p:cNvPr id="48" name="Text 40"/>
          <p:cNvSpPr/>
          <p:nvPr/>
        </p:nvSpPr>
        <p:spPr>
          <a:xfrm>
            <a:off x="457200" y="6163056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E74A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以上六項功能系統都已經做好，接待中心現場就能演；掃碼進門的功能已完成，只差大廳的掃碼機（第 3 階段）。</a:t>
            </a:r>
            <a:endParaRPr lang="en-US" sz="1000" dirty="0"/>
          </a:p>
        </p:txBody>
      </p:sp>
      <p:sp>
        <p:nvSpPr>
          <p:cNvPr id="49" name="Text 41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74A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分階段導入規劃 ── 住戶最有感的六個功能</a:t>
            </a:r>
            <a:endParaRPr lang="en-US" sz="1050" dirty="0"/>
          </a:p>
        </p:txBody>
      </p:sp>
      <p:sp>
        <p:nvSpPr>
          <p:cNvPr id="50" name="Text 42"/>
          <p:cNvSpPr/>
          <p:nvPr/>
        </p:nvSpPr>
        <p:spPr>
          <a:xfrm>
            <a:off x="5486400" y="6510528"/>
            <a:ext cx="6153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E74A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全部已上線　·　現場可實演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A35A"/>
                </a:solidFill>
              </a:rPr>
              <a:t>GOOGLE NEST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530352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6F3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用的是 Google 原廠設備，不是雜牌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133856"/>
            <a:ext cx="8778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0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國際大廠品質，走 Google 官方認證的串接方式 —— 語音控制家電的部分已經完成整合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8595360" y="457200"/>
            <a:ext cx="3044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FB0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國際品牌背書
</a:t>
            </a:r>
            <a:pPr algn="r"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E6CF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Google Nest 全系列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200" y="1572768"/>
            <a:ext cx="11274552" cy="877824"/>
          </a:xfrm>
          <a:prstGeom prst="roundRect">
            <a:avLst>
              <a:gd name="adj" fmla="val 10417"/>
            </a:avLst>
          </a:prstGeom>
          <a:solidFill>
            <a:srgbClr val="10241D">
              <a:alpha val="92000"/>
            </a:srgbClr>
          </a:solidFill>
          <a:ln w="12700">
            <a:solidFill>
              <a:srgbClr val="69D6A8">
                <a:alpha val="70000"/>
              </a:srgbClr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572768"/>
            <a:ext cx="82296" cy="877824"/>
          </a:xfrm>
          <a:prstGeom prst="roundRect">
            <a:avLst>
              <a:gd name="adj" fmla="val 44444"/>
            </a:avLst>
          </a:prstGeom>
          <a:solidFill>
            <a:srgbClr val="69D6A8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1728216"/>
            <a:ext cx="566928" cy="566928"/>
          </a:xfrm>
          <a:prstGeom prst="ellipse">
            <a:avLst/>
          </a:prstGeom>
          <a:solidFill>
            <a:srgbClr val="0F1C33"/>
          </a:solidFill>
          <a:ln w="11430">
            <a:solidFill>
              <a:srgbClr val="69D6A8">
                <a:alpha val="70000"/>
              </a:srgbClr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865376"/>
            <a:ext cx="292608" cy="29260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81328" y="1700784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9D6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已做好　</a:t>
            </a:r>
            <a:pPr indent="0" marL="0">
              <a:buNone/>
            </a:pPr>
            <a:r>
              <a:rPr lang="en-US" sz="1300" b="1" dirty="0">
                <a:solidFill>
                  <a:srgbClr val="F6F3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說一句話，家裡的燈光、冷氣、窗簾就會動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481328" y="202996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DD8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走的是 Google 官方認證的串接方式，不是自己接的偏方 —— 系統穩定度與後續更新有原廠保障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9601200" y="1709928"/>
            <a:ext cx="2057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E6CF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音箱負責「控制家電」
</a:t>
            </a:r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E74A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訂公設用平板或手機 App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57200" y="2871216"/>
            <a:ext cx="2688336" cy="2688336"/>
          </a:xfrm>
          <a:prstGeom prst="roundRect">
            <a:avLst>
              <a:gd name="adj" fmla="val 3741"/>
            </a:avLst>
          </a:prstGeom>
          <a:solidFill>
            <a:srgbClr val="13241D">
              <a:alpha val="90000"/>
            </a:srgbClr>
          </a:solidFill>
          <a:ln w="12700">
            <a:solidFill>
              <a:srgbClr val="69D6A8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1417320" y="3145536"/>
            <a:ext cx="768096" cy="768096"/>
          </a:xfrm>
          <a:prstGeom prst="ellipse">
            <a:avLst/>
          </a:prstGeom>
          <a:solidFill>
            <a:srgbClr val="0F1C33"/>
          </a:solidFill>
          <a:ln w="11430">
            <a:solidFill>
              <a:srgbClr val="69D6A8">
                <a:alpha val="70000"/>
              </a:srgbClr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9344" y="3337560"/>
            <a:ext cx="384048" cy="38404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40080" y="4041648"/>
            <a:ext cx="2322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9D6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</a:t>
            </a:r>
            <a:pPr algn="ctr" indent="0" marL="0">
              <a:buNone/>
            </a:pPr>
            <a:r>
              <a:rPr lang="en-US" sz="1300" b="1" dirty="0">
                <a:solidFill>
                  <a:srgbClr val="F6F3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Google 智慧音箱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640080" y="4352544"/>
            <a:ext cx="2322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69D6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階段 1 就用得到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1097280" y="4681728"/>
            <a:ext cx="1408176" cy="0"/>
          </a:xfrm>
          <a:prstGeom prst="line">
            <a:avLst/>
          </a:prstGeom>
          <a:noFill/>
          <a:ln w="6350">
            <a:solidFill>
              <a:srgbClr val="C9A35A">
                <a:alpha val="45000"/>
              </a:srgbClr>
            </a:solidFill>
            <a:prstDash val="dash"/>
          </a:ln>
        </p:spPr>
      </p:sp>
      <p:sp>
        <p:nvSpPr>
          <p:cNvPr id="19" name="Text 15"/>
          <p:cNvSpPr/>
          <p:nvPr/>
        </p:nvSpPr>
        <p:spPr>
          <a:xfrm>
            <a:off x="731520" y="4791456"/>
            <a:ext cx="21396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DD8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一顆放客廳就有感。說話開關燈光、冷氣、窗簾，樣品屋現場最好演的一項。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3319272" y="2871216"/>
            <a:ext cx="2688336" cy="2688336"/>
          </a:xfrm>
          <a:prstGeom prst="roundRect">
            <a:avLst>
              <a:gd name="adj" fmla="val 3741"/>
            </a:avLst>
          </a:prstGeom>
          <a:solidFill>
            <a:srgbClr val="13241D">
              <a:alpha val="90000"/>
            </a:srgbClr>
          </a:solidFill>
          <a:ln w="12700">
            <a:solidFill>
              <a:srgbClr val="69D6A8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4279392" y="3145536"/>
            <a:ext cx="768096" cy="768096"/>
          </a:xfrm>
          <a:prstGeom prst="ellipse">
            <a:avLst/>
          </a:prstGeom>
          <a:solidFill>
            <a:srgbClr val="0F1C33"/>
          </a:solidFill>
          <a:ln w="11430">
            <a:solidFill>
              <a:srgbClr val="69D6A8">
                <a:alpha val="70000"/>
              </a:srgbClr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1416" y="3337560"/>
            <a:ext cx="384048" cy="38404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3502152" y="4041648"/>
            <a:ext cx="2322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9D6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</a:t>
            </a:r>
            <a:pPr algn="ctr" indent="0" marL="0">
              <a:buNone/>
            </a:pPr>
            <a:r>
              <a:rPr lang="en-US" sz="1300" b="1" dirty="0">
                <a:solidFill>
                  <a:srgbClr val="F6F3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Google 小螢幕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3502152" y="4352544"/>
            <a:ext cx="2322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69D6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階段 3 住戶配發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3959352" y="4681728"/>
            <a:ext cx="1408176" cy="0"/>
          </a:xfrm>
          <a:prstGeom prst="line">
            <a:avLst/>
          </a:prstGeom>
          <a:noFill/>
          <a:ln w="6350">
            <a:solidFill>
              <a:srgbClr val="C9A35A">
                <a:alpha val="45000"/>
              </a:srgbClr>
            </a:solidFill>
            <a:prstDash val="dash"/>
          </a:ln>
        </p:spPr>
      </p:sp>
      <p:sp>
        <p:nvSpPr>
          <p:cNvPr id="26" name="Text 21"/>
          <p:cNvSpPr/>
          <p:nvPr/>
        </p:nvSpPr>
        <p:spPr>
          <a:xfrm>
            <a:off x="3593592" y="4791456"/>
            <a:ext cx="21396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DD8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 吋觸控加語音，不想說話就用點的；長輩看得到畫面比較安心。</a:t>
            </a:r>
            <a:endParaRPr lang="en-US" sz="1000" dirty="0"/>
          </a:p>
        </p:txBody>
      </p:sp>
      <p:sp>
        <p:nvSpPr>
          <p:cNvPr id="27" name="Shape 22"/>
          <p:cNvSpPr/>
          <p:nvPr/>
        </p:nvSpPr>
        <p:spPr>
          <a:xfrm>
            <a:off x="6181344" y="2871216"/>
            <a:ext cx="2688336" cy="2688336"/>
          </a:xfrm>
          <a:prstGeom prst="roundRect">
            <a:avLst>
              <a:gd name="adj" fmla="val 3741"/>
            </a:avLst>
          </a:prstGeom>
          <a:solidFill>
            <a:srgbClr val="12203A">
              <a:alpha val="80000"/>
            </a:srgbClr>
          </a:solidFill>
          <a:ln w="9525">
            <a:solidFill>
              <a:srgbClr val="C9A35A">
                <a:alpha val="42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7141464" y="3145536"/>
            <a:ext cx="768096" cy="768096"/>
          </a:xfrm>
          <a:prstGeom prst="ellipse">
            <a:avLst/>
          </a:prstGeom>
          <a:solidFill>
            <a:srgbClr val="0F1C33"/>
          </a:solidFill>
          <a:ln w="11430">
            <a:solidFill>
              <a:srgbClr val="C9A35A">
                <a:alpha val="70000"/>
              </a:srgbClr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3488" y="3337560"/>
            <a:ext cx="384048" cy="384048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6364224" y="4041648"/>
            <a:ext cx="2322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A3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</a:t>
            </a:r>
            <a:pPr algn="ctr" indent="0" marL="0">
              <a:buNone/>
            </a:pPr>
            <a:r>
              <a:rPr lang="en-US" sz="1300" b="1" dirty="0">
                <a:solidFill>
                  <a:srgbClr val="F6F3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Google 無線網路</a:t>
            </a:r>
            <a:endParaRPr lang="en-US" sz="1000" dirty="0"/>
          </a:p>
        </p:txBody>
      </p:sp>
      <p:sp>
        <p:nvSpPr>
          <p:cNvPr id="31" name="Text 25"/>
          <p:cNvSpPr/>
          <p:nvPr/>
        </p:nvSpPr>
        <p:spPr>
          <a:xfrm>
            <a:off x="6364224" y="4352544"/>
            <a:ext cx="2322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C9A3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階段 3 全區覆蓋</a:t>
            </a:r>
            <a:endParaRPr lang="en-US" sz="1000" dirty="0"/>
          </a:p>
        </p:txBody>
      </p:sp>
      <p:sp>
        <p:nvSpPr>
          <p:cNvPr id="32" name="Shape 26"/>
          <p:cNvSpPr/>
          <p:nvPr/>
        </p:nvSpPr>
        <p:spPr>
          <a:xfrm>
            <a:off x="6821424" y="4681728"/>
            <a:ext cx="1408176" cy="0"/>
          </a:xfrm>
          <a:prstGeom prst="line">
            <a:avLst/>
          </a:prstGeom>
          <a:noFill/>
          <a:ln w="6350">
            <a:solidFill>
              <a:srgbClr val="C9A35A">
                <a:alpha val="45000"/>
              </a:srgbClr>
            </a:solidFill>
            <a:prstDash val="dash"/>
          </a:ln>
        </p:spPr>
      </p:sp>
      <p:sp>
        <p:nvSpPr>
          <p:cNvPr id="33" name="Text 27"/>
          <p:cNvSpPr/>
          <p:nvPr/>
        </p:nvSpPr>
        <p:spPr>
          <a:xfrm>
            <a:off x="6455664" y="4791456"/>
            <a:ext cx="21396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DD8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公設走到哪都不斷訊，健身房、交誼廳、地下室都收得到。</a:t>
            </a:r>
            <a:endParaRPr lang="en-US" sz="1000" dirty="0"/>
          </a:p>
        </p:txBody>
      </p:sp>
      <p:sp>
        <p:nvSpPr>
          <p:cNvPr id="34" name="Shape 28"/>
          <p:cNvSpPr/>
          <p:nvPr/>
        </p:nvSpPr>
        <p:spPr>
          <a:xfrm>
            <a:off x="9043416" y="2871216"/>
            <a:ext cx="2688336" cy="2688336"/>
          </a:xfrm>
          <a:prstGeom prst="roundRect">
            <a:avLst>
              <a:gd name="adj" fmla="val 3741"/>
            </a:avLst>
          </a:prstGeom>
          <a:solidFill>
            <a:srgbClr val="12203A">
              <a:alpha val="80000"/>
            </a:srgbClr>
          </a:solidFill>
          <a:ln w="9525">
            <a:solidFill>
              <a:srgbClr val="C9A35A">
                <a:alpha val="42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sp>
        <p:nvSpPr>
          <p:cNvPr id="35" name="Shape 29"/>
          <p:cNvSpPr/>
          <p:nvPr/>
        </p:nvSpPr>
        <p:spPr>
          <a:xfrm>
            <a:off x="10003536" y="3145536"/>
            <a:ext cx="768096" cy="768096"/>
          </a:xfrm>
          <a:prstGeom prst="ellipse">
            <a:avLst/>
          </a:prstGeom>
          <a:solidFill>
            <a:srgbClr val="0F1C33"/>
          </a:solidFill>
          <a:ln w="11430">
            <a:solidFill>
              <a:srgbClr val="6FB1FF">
                <a:alpha val="70000"/>
              </a:srgbClr>
            </a:solidFill>
            <a:prstDash val="solid"/>
          </a:ln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95560" y="3337560"/>
            <a:ext cx="384048" cy="384048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9226296" y="4041648"/>
            <a:ext cx="2322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FB1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○ </a:t>
            </a:r>
            <a:pPr algn="ctr" indent="0" marL="0">
              <a:buNone/>
            </a:pPr>
            <a:r>
              <a:rPr lang="en-US" sz="1300" b="1" dirty="0">
                <a:solidFill>
                  <a:srgbClr val="F6F3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門口攝影機／大螢幕</a:t>
            </a:r>
            <a:endParaRPr lang="en-US" sz="1000" dirty="0"/>
          </a:p>
        </p:txBody>
      </p:sp>
      <p:sp>
        <p:nvSpPr>
          <p:cNvPr id="38" name="Text 31"/>
          <p:cNvSpPr/>
          <p:nvPr/>
        </p:nvSpPr>
        <p:spPr>
          <a:xfrm>
            <a:off x="9226296" y="4352544"/>
            <a:ext cx="2322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6FB1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階段 4 選配</a:t>
            </a:r>
            <a:endParaRPr lang="en-US" sz="1000" dirty="0"/>
          </a:p>
        </p:txBody>
      </p:sp>
      <p:sp>
        <p:nvSpPr>
          <p:cNvPr id="39" name="Shape 32"/>
          <p:cNvSpPr/>
          <p:nvPr/>
        </p:nvSpPr>
        <p:spPr>
          <a:xfrm>
            <a:off x="9683496" y="4681728"/>
            <a:ext cx="1408176" cy="0"/>
          </a:xfrm>
          <a:prstGeom prst="line">
            <a:avLst/>
          </a:prstGeom>
          <a:noFill/>
          <a:ln w="6350">
            <a:solidFill>
              <a:srgbClr val="C9A35A">
                <a:alpha val="45000"/>
              </a:srgbClr>
            </a:solidFill>
            <a:prstDash val="dash"/>
          </a:ln>
        </p:spPr>
      </p:sp>
      <p:sp>
        <p:nvSpPr>
          <p:cNvPr id="40" name="Text 33"/>
          <p:cNvSpPr/>
          <p:nvPr/>
        </p:nvSpPr>
        <p:spPr>
          <a:xfrm>
            <a:off x="9317736" y="4791456"/>
            <a:ext cx="21396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DD8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影像門鈴、大廳迎賓看板；想再加質感時才需要。</a:t>
            </a:r>
            <a:endParaRPr lang="en-US" sz="1000" dirty="0"/>
          </a:p>
        </p:txBody>
      </p:sp>
      <p:sp>
        <p:nvSpPr>
          <p:cNvPr id="41" name="Text 34"/>
          <p:cNvSpPr/>
          <p:nvPr/>
        </p:nvSpPr>
        <p:spPr>
          <a:xfrm>
            <a:off x="457200" y="6163056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E74A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音箱能控制家裡的設備，但「訂公設、報修」這類社區服務是我們平台自己做的語音功能，用平板或手機 App 操作。</a:t>
            </a:r>
            <a:endParaRPr lang="en-US" sz="1000" dirty="0"/>
          </a:p>
        </p:txBody>
      </p:sp>
      <p:sp>
        <p:nvSpPr>
          <p:cNvPr id="42" name="Text 35"/>
          <p:cNvSpPr/>
          <p:nvPr/>
        </p:nvSpPr>
        <p:spPr>
          <a:xfrm>
            <a:off x="5120640" y="1170432"/>
            <a:ext cx="6519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9D6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</a:t>
            </a:r>
            <a:pPr algn="r" indent="0" marL="0">
              <a:buNone/>
            </a:pPr>
            <a:r>
              <a:rPr lang="en-US" sz="1050" dirty="0">
                <a:solidFill>
                  <a:srgbClr val="CDD8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已做好・可直接展示　</a:t>
            </a:r>
            <a:pPr algn="r" indent="0" marL="0">
              <a:buNone/>
            </a:pPr>
            <a:r>
              <a:rPr lang="en-US" sz="1050" dirty="0">
                <a:solidFill>
                  <a:srgbClr val="C9A3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</a:t>
            </a:r>
            <a:pPr algn="r" indent="0" marL="0">
              <a:buNone/>
            </a:pPr>
            <a:r>
              <a:rPr lang="en-US" sz="1050" dirty="0">
                <a:solidFill>
                  <a:srgbClr val="CDD8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建議一定要裝　</a:t>
            </a:r>
            <a:pPr algn="r" indent="0" marL="0">
              <a:buNone/>
            </a:pPr>
            <a:r>
              <a:rPr lang="en-US" sz="1050" dirty="0">
                <a:solidFill>
                  <a:srgbClr val="6FB1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○ </a:t>
            </a:r>
            <a:pPr algn="r" indent="0" marL="0">
              <a:buNone/>
            </a:pPr>
            <a:r>
              <a:rPr lang="en-US" sz="1050" dirty="0">
                <a:solidFill>
                  <a:srgbClr val="CDD8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之後想加再加</a:t>
            </a:r>
            <a:endParaRPr lang="en-US" sz="1050" dirty="0"/>
          </a:p>
        </p:txBody>
      </p:sp>
      <p:sp>
        <p:nvSpPr>
          <p:cNvPr id="43" name="Text 36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74A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分階段導入規劃 ── Google 原廠設備</a:t>
            </a:r>
            <a:endParaRPr lang="en-US" sz="1050" dirty="0"/>
          </a:p>
        </p:txBody>
      </p:sp>
      <p:sp>
        <p:nvSpPr>
          <p:cNvPr id="44" name="Text 37"/>
          <p:cNvSpPr/>
          <p:nvPr/>
        </p:nvSpPr>
        <p:spPr>
          <a:xfrm>
            <a:off x="5486400" y="6510528"/>
            <a:ext cx="6153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E74A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原廠認證串接　·　國際級硬體品質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A35A"/>
                </a:solidFill>
              </a:rPr>
              <a:t>HARDWARE CHECKLIST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530352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6F3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硬體總表：一張表看完四個階段要裝什麼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133856"/>
            <a:ext cx="8778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0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一行一項，直接對照階段；數量以單棟社區為基準，實際依建案規模在報價階段確認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8595360" y="457200"/>
            <a:ext cx="3044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FB0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完整品項
</a:t>
            </a:r>
            <a:pPr algn="r"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E6CF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四階段 · 20 項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120640" y="1170432"/>
            <a:ext cx="6519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9D6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</a:t>
            </a:r>
            <a:pPr algn="r" indent="0" marL="0">
              <a:buNone/>
            </a:pPr>
            <a:r>
              <a:rPr lang="en-US" sz="1050" dirty="0">
                <a:solidFill>
                  <a:srgbClr val="CDD8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已做好・可直接展示　</a:t>
            </a:r>
            <a:pPr algn="r" indent="0" marL="0">
              <a:buNone/>
            </a:pPr>
            <a:r>
              <a:rPr lang="en-US" sz="1050" dirty="0">
                <a:solidFill>
                  <a:srgbClr val="C9A3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</a:t>
            </a:r>
            <a:pPr algn="r" indent="0" marL="0">
              <a:buNone/>
            </a:pPr>
            <a:r>
              <a:rPr lang="en-US" sz="1050" dirty="0">
                <a:solidFill>
                  <a:srgbClr val="CDD8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建議一定要裝　</a:t>
            </a:r>
            <a:pPr algn="r" indent="0" marL="0">
              <a:buNone/>
            </a:pPr>
            <a:r>
              <a:rPr lang="en-US" sz="1050" dirty="0">
                <a:solidFill>
                  <a:srgbClr val="6FB1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○ </a:t>
            </a:r>
            <a:pPr algn="r" indent="0" marL="0">
              <a:buNone/>
            </a:pPr>
            <a:r>
              <a:rPr lang="en-US" sz="1050" dirty="0">
                <a:solidFill>
                  <a:srgbClr val="CDD8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之後想加再加</a:t>
            </a:r>
            <a:endParaRPr lang="en-US" sz="10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17904"/>
          <a:ext cx="11274552" cy="914400"/>
        </p:xfrm>
        <a:graphic>
          <a:graphicData uri="http://schemas.openxmlformats.org/drawingml/2006/table">
            <a:tbl>
              <a:tblPr/>
              <a:tblGrid>
                <a:gridCol w="658368"/>
                <a:gridCol w="2468880"/>
                <a:gridCol w="5632704"/>
                <a:gridCol w="1051560"/>
                <a:gridCol w="14630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80" b="1" dirty="0">
                          <a:solidFill>
                            <a:srgbClr val="C9A35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階段</a:t>
                      </a:r>
                      <a:endParaRPr lang="en-US" sz="98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2A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b="1" dirty="0">
                          <a:solidFill>
                            <a:srgbClr val="C9A35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要裝什麼</a:t>
                      </a:r>
                      <a:endParaRPr lang="en-US" sz="98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2A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b="1" dirty="0">
                          <a:solidFill>
                            <a:srgbClr val="C9A35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這東西是做什麼的</a:t>
                      </a:r>
                      <a:endParaRPr lang="en-US" sz="98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2A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80" b="1" dirty="0">
                          <a:solidFill>
                            <a:srgbClr val="C9A35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數量</a:t>
                      </a:r>
                      <a:endParaRPr lang="en-US" sz="98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2A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b="1" dirty="0">
                          <a:solidFill>
                            <a:srgbClr val="C9A35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狀態</a:t>
                      </a:r>
                      <a:endParaRPr lang="en-US" sz="98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2A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30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69D6A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6F3E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接待中心平板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DD8E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演「說一句話訂公設 → 自動派工」，10 吋以上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CDD8E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 台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9A35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● 一定要裝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A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69D6A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6F3E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智慧音箱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DD8E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說話開關燈光、冷氣、窗簾（Google 原廠）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CDD8E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 顆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9A35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● 一定要裝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1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69D6A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6F3E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示範用小主機＋情境設備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DD8E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讓樣品屋真的亮起來；預算有限也可只用螢幕模擬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CDD8E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 式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FB1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○ 之後再加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A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69D6A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6F3E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雲端服務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DD8E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系統跑在雲端，這階段免費方案就夠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CDD8E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9D6A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● 已做好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1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9A35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6F3E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管理室小主機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DD8E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社區的大腦，所有設備指令從這裡送出去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CDD8E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 台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9A35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● 一定要裝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A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9A35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6F3E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不斷電電池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DD8E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停電時系統不關機，門禁照常運作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CDD8E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 台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9A35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● 一定要裝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1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9A35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6F3E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社區網路主機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DD8E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住戶／監控／管理三種網路分開走，安全也不互相卡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CDD8E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 台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9A35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● 一定要裝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A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9A35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6F3E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網路集線器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DD8E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一條線同時送資料跟電，之後接掃碼機、攝影機免拉電源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CDD8E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1–2 台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9A35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● 一定要裝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1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9A35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6F3E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管理室大螢幕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DD8E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全社區狀況一頁看完；一體機或電視接瀏覽器皆可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CDD8E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 台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9A35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● 一定要裝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A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9A35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6F3E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櫃檯平板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DD8E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櫃檯人員日常收發、登記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CDD8E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 台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9A35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● 一定要裝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1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9A35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6F3E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雲端方案升級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DD8E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轉成正式營運等級，資料保存更穩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CDD8E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9D6A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● 已做好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A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6FB1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6F3E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住戶家中設備組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DD8E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燈光、冷氣、窗簾的控制模組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CDD8E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每戶 1 式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9D6A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● 已做好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1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6FB1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6F3E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住戶音箱／小螢幕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DD8E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說話就能控制，也可以觸控操作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CDD8E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每戶 1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9D6A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● 已做好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A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6FB1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6F3E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大廳掃碼機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DD8E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手機出示 QR 就開門；通行碼功能已做好，接上就能用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CDD8E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出入口 ×2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FB1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○ 之後再加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1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6FB1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6F3E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全區無線網路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DD8E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公設走到哪都不斷訊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CDD8E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 組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9A35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● 一定要裝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A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6FB1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6F3E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設備轉接盒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DD8E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讓不同廠牌的燈光、空調都能連上同一套系統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CDD8E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 式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FB1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○ 之後再加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1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E6CF9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6F3E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車牌辨識柵欄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DD8E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認車牌自動放行，住戶車不用停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CDD8E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車道 ×1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FB1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○ 之後再加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A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E6CF9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6F3E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智能包裹櫃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DD8E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20–40 格，掃碼取件，管理員不用代收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CDD8E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 組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FB1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○ 之後再加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1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E6CF9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6F3E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電梯連動控制器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DD8E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刷卡後電梯自動送到住戶樓層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CDD8E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每梯 ×1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FB1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○ 之後再加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A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E6CF9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6F3E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語音服務搬回社區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DD8E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對話資料留在自己手上，系統多一層備援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CDD8E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 式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FB1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○ 之後再加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1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6272784"/>
            <a:ext cx="11274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E74A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本表不含報價；詳細型號與規格另附工務版清單。設備都是走標準方式接入，單項可以獨立更換或沿用建商既有供應商。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74A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分階段導入規劃 ── 硬體總表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486400" y="6510528"/>
            <a:ext cx="6153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E74A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階段 1 綠 · 2 金 · 3 藍 · 4 淺金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智慧宅分階段導入規劃</dc:title>
  <dc:subject>PptxGenJS Presentation</dc:subject>
  <dc:creator>智慧住宅管理平台</dc:creator>
  <cp:lastModifiedBy>智慧住宅管理平台</cp:lastModifiedBy>
  <cp:revision>1</cp:revision>
  <dcterms:created xsi:type="dcterms:W3CDTF">2026-08-20T08:02:53Z</dcterms:created>
  <dcterms:modified xsi:type="dcterms:W3CDTF">2026-08-20T08:02:53Z</dcterms:modified>
</cp:coreProperties>
</file>