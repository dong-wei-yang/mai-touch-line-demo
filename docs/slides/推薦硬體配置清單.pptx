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264" y="1298448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724912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A"/>
                </a:solidFill>
              </a:rPr>
              <a:t>RECOMMENDED HARDWARE CONFIGURATION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3127248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推薦硬體配置清單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632704" y="4133088"/>
            <a:ext cx="914400" cy="0"/>
          </a:xfrm>
          <a:prstGeom prst="line">
            <a:avLst/>
          </a:prstGeom>
          <a:noFill/>
          <a:ln w="15240">
            <a:solidFill>
              <a:srgbClr val="C9A35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42976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高級住宅・智慧管理平台　｜　從雲端到終端，分階段配齊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0" y="5175504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 × 網路基礎 × 公設門禁 × 住戶智慧 × 管理終端 × 雲端服務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配置分級對應實際程式整合現況：已整合上線 · 建議必備 · 選配待接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SYSTEM HARDWARE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五層硬體架構：從雲端指令到終端執行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</a:rPr>
              <a:t>App 不直接對接設備 —— 指令經『邊緣閘道』下發，設備狀態逐層回報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建商級住宅管理平台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</a:rPr>
              <a:t>雲 → 端 · 分層解耦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1627632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627632"/>
            <a:ext cx="82296" cy="822960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1755648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883664"/>
            <a:ext cx="310896" cy="3108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72768" y="1627632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雲端與服務層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 &amp; Services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270248" y="1627632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Render 後端 · Vercel Web · LINE OA · Twilio SMS · Gemini · FastAPI NLP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96696" y="2414016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2578608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66928" y="2578608"/>
            <a:ext cx="82296" cy="822960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15" name="Shape 12"/>
          <p:cNvSpPr/>
          <p:nvPr/>
        </p:nvSpPr>
        <p:spPr>
          <a:xfrm>
            <a:off x="822960" y="2706624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2834640"/>
            <a:ext cx="310896" cy="31089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572768" y="257860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管理終端層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Terminals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270248" y="2578608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物業櫃檯平板 · 管理中心 Web Kiosk · 住戶手機 App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996696" y="336499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66928" y="3529584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66928" y="3529584"/>
            <a:ext cx="82296" cy="822960"/>
          </a:xfrm>
          <a:prstGeom prst="roundRect">
            <a:avLst>
              <a:gd name="adj" fmla="val 44444"/>
            </a:avLst>
          </a:prstGeom>
          <a:solidFill>
            <a:srgbClr val="C9A35A"/>
          </a:solidFill>
          <a:ln/>
        </p:spPr>
      </p:sp>
      <p:sp>
        <p:nvSpPr>
          <p:cNvPr id="22" name="Shape 18"/>
          <p:cNvSpPr/>
          <p:nvPr/>
        </p:nvSpPr>
        <p:spPr>
          <a:xfrm>
            <a:off x="822960" y="3657600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3785616"/>
            <a:ext cx="310896" cy="31089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572768" y="352958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社區網路層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Network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4270248" y="3529584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 / 防火牆(VLAN) · PoE 交換器 · Wi-Fi 6E(Nest Wifi Pro)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996696" y="431596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566928" y="4480560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566928" y="4480560"/>
            <a:ext cx="82296" cy="822960"/>
          </a:xfrm>
          <a:prstGeom prst="roundRect">
            <a:avLst>
              <a:gd name="adj" fmla="val 44444"/>
            </a:avLst>
          </a:prstGeom>
          <a:solidFill>
            <a:srgbClr val="C9A35A"/>
          </a:solidFill>
          <a:ln/>
        </p:spPr>
      </p:sp>
      <p:sp>
        <p:nvSpPr>
          <p:cNvPr id="29" name="Shape 24"/>
          <p:cNvSpPr/>
          <p:nvPr/>
        </p:nvSpPr>
        <p:spPr>
          <a:xfrm>
            <a:off x="822960" y="4608576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4736592"/>
            <a:ext cx="310896" cy="310896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572768" y="4480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Edge Gateway</a:t>
            </a:r>
            <a:endParaRPr lang="en-US" sz="1500" dirty="0"/>
          </a:p>
        </p:txBody>
      </p:sp>
      <p:sp>
        <p:nvSpPr>
          <p:cNvPr id="32" name="Text 26"/>
          <p:cNvSpPr/>
          <p:nvPr/>
        </p:nvSpPr>
        <p:spPr>
          <a:xfrm>
            <a:off x="4270248" y="4480560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工控閘道主機 · HTTP(已通) / MQTT · Modbus 橋接 · UPS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996696" y="526694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566928" y="5431536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566928" y="5431536"/>
            <a:ext cx="82296" cy="822960"/>
          </a:xfrm>
          <a:prstGeom prst="roundRect">
            <a:avLst>
              <a:gd name="adj" fmla="val 44444"/>
            </a:avLst>
          </a:prstGeom>
          <a:solidFill>
            <a:srgbClr val="6FB1FF"/>
          </a:solidFill>
          <a:ln/>
        </p:spPr>
      </p:sp>
      <p:sp>
        <p:nvSpPr>
          <p:cNvPr id="36" name="Shape 30"/>
          <p:cNvSpPr/>
          <p:nvPr/>
        </p:nvSpPr>
        <p:spPr>
          <a:xfrm>
            <a:off x="822960" y="5559552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5687568"/>
            <a:ext cx="310896" cy="310896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572768" y="543153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Devices</a:t>
            </a:r>
            <a:endParaRPr lang="en-US" sz="1500" dirty="0"/>
          </a:p>
        </p:txBody>
      </p:sp>
      <p:sp>
        <p:nvSpPr>
          <p:cNvPr id="39" name="Text 32"/>
          <p:cNvSpPr/>
          <p:nvPr/>
        </p:nvSpPr>
        <p:spPr>
          <a:xfrm>
            <a:off x="4270248" y="5431536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光/空調/窗簾/安防 · Nest 音箱/顯示器 · 門禁/電梯/柵欄/包裹櫃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11018520" y="1810512"/>
            <a:ext cx="0" cy="4261104"/>
          </a:xfrm>
          <a:prstGeom prst="line">
            <a:avLst/>
          </a:prstGeom>
          <a:noFill/>
          <a:ln w="17780">
            <a:solidFill>
              <a:srgbClr val="3A4F73"/>
            </a:solidFill>
            <a:prstDash val="dash"/>
            <a:headEnd type="triangle"/>
            <a:tailEnd type="triangle"/>
          </a:ln>
        </p:spPr>
      </p:sp>
      <p:sp>
        <p:nvSpPr>
          <p:cNvPr id="41" name="Text 34"/>
          <p:cNvSpPr/>
          <p:nvPr/>
        </p:nvSpPr>
        <p:spPr>
          <a:xfrm>
            <a:off x="11073384" y="185623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指令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下行</a:t>
            </a:r>
            <a:endParaRPr lang="en-US" sz="1050" dirty="0"/>
          </a:p>
        </p:txBody>
      </p:sp>
      <p:sp>
        <p:nvSpPr>
          <p:cNvPr id="42" name="Text 35"/>
          <p:cNvSpPr/>
          <p:nvPr/>
        </p:nvSpPr>
        <p:spPr>
          <a:xfrm>
            <a:off x="11073384" y="5385816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回報</a:t>
            </a:r>
            <a:endParaRPr lang="en-US" sz="1050" dirty="0"/>
          </a:p>
        </p:txBody>
      </p:sp>
      <p:sp>
        <p:nvSpPr>
          <p:cNvPr id="43" name="Text 36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選配・待接</a:t>
            </a:r>
            <a:endParaRPr lang="en-US" sz="1050" dirty="0"/>
          </a:p>
        </p:txBody>
      </p:sp>
      <p:sp>
        <p:nvSpPr>
          <p:cNvPr id="44" name="Text 37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推薦硬體配置清單 ── 五層硬體架構</a:t>
            </a:r>
            <a:endParaRPr lang="en-US" sz="1050" dirty="0"/>
          </a:p>
        </p:txBody>
      </p:sp>
      <p:sp>
        <p:nvSpPr>
          <p:cNvPr id="45" name="Text 38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分層解耦：任一層可獨立擴充或替換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GOOGLE NEST ECOSYSTEM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採用 Google Nest 智慧生態系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</a:rPr>
              <a:t>國際級硬體品質，以 Google 官方 Cloud-to-Cloud 標準串接，語音裝置控制已完成整合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國際品牌背書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</a:rPr>
              <a:t>Google Nest 全系列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536192"/>
            <a:ext cx="11274552" cy="786384"/>
          </a:xfrm>
          <a:prstGeom prst="roundRect">
            <a:avLst>
              <a:gd name="adj" fmla="val 11628"/>
            </a:avLst>
          </a:prstGeom>
          <a:solidFill>
            <a:srgbClr val="10241D">
              <a:alpha val="92000"/>
            </a:srgbClr>
          </a:solidFill>
          <a:ln w="12700">
            <a:solidFill>
              <a:srgbClr val="69D6A8">
                <a:alpha val="70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536192"/>
            <a:ext cx="82296" cy="786384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664208"/>
            <a:ext cx="530352" cy="530352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9D6A8">
                <a:alpha val="70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92224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64592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已整合上線　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官方 Cloud-to-Cloud 標準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417320" y="19385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SYNC · QUERY · EXECUTE 語音裝置控制 —— 對 Nest 音箱／顯示器說一句話即可開關燈光・空調・窗簾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601200" y="1627632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僅『裝置控制』
</a:t>
            </a:r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語音預約由平台自建麥克風管道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42032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3241D">
              <a:alpha val="90000"/>
            </a:srgbClr>
          </a:solidFill>
          <a:ln w="12700">
            <a:solidFill>
              <a:srgbClr val="69D6A8">
                <a:alpha val="6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" y="2761488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9D6A8">
                <a:alpha val="70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926080"/>
            <a:ext cx="329184" cy="3291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481328" y="2779776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Mini / Audio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1481328" y="3072384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智能音箱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4944" y="3566160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9" name="Text 15"/>
          <p:cNvSpPr/>
          <p:nvPr/>
        </p:nvSpPr>
        <p:spPr>
          <a:xfrm>
            <a:off x="713232" y="3639312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語音開關燈光・空調・窗簾(Cloud-to-Cloud)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4334256" y="2542032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3241D">
              <a:alpha val="90000"/>
            </a:srgbClr>
          </a:solidFill>
          <a:ln w="12700">
            <a:solidFill>
              <a:srgbClr val="69D6A8">
                <a:alpha val="6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553712" y="2761488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9D6A8">
                <a:alpha val="70000"/>
              </a:srgbClr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304" y="2926080"/>
            <a:ext cx="329184" cy="32918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358384" y="2779776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Hub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5358384" y="3072384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智能顯示器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572000" y="3566160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6" name="Text 21"/>
          <p:cNvSpPr/>
          <p:nvPr/>
        </p:nvSpPr>
        <p:spPr>
          <a:xfrm>
            <a:off x="4590288" y="3639312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吋觸控 + 語音,可視化住戶控制面板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8211312" y="2542032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430768" y="2761488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FB1FF">
                <a:alpha val="70000"/>
              </a:srgbClr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2926080"/>
            <a:ext cx="329184" cy="32918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9235440" y="2779776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Hub Max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9235440" y="3072384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大屏 + 視訊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8449056" y="3566160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33" name="Text 27"/>
          <p:cNvSpPr/>
          <p:nvPr/>
        </p:nvSpPr>
        <p:spPr>
          <a:xfrm>
            <a:off x="8467344" y="3639312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吋,公設迎賓 / 管理端資訊看板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457200" y="4443984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676656" y="4663440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4828032"/>
            <a:ext cx="329184" cy="329184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1481328" y="4681728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Wifi Pro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1481328" y="4974336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Wi-Fi 6E Mesh</a:t>
            </a:r>
            <a:endParaRPr lang="en-US" sz="1000" dirty="0"/>
          </a:p>
        </p:txBody>
      </p:sp>
      <p:sp>
        <p:nvSpPr>
          <p:cNvPr id="39" name="Shape 32"/>
          <p:cNvSpPr/>
          <p:nvPr/>
        </p:nvSpPr>
        <p:spPr>
          <a:xfrm>
            <a:off x="694944" y="5468112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40" name="Text 33"/>
          <p:cNvSpPr/>
          <p:nvPr/>
        </p:nvSpPr>
        <p:spPr>
          <a:xfrm>
            <a:off x="713232" y="5541264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對應網路層,社區全區無線覆蓋</a:t>
            </a:r>
            <a:endParaRPr lang="en-US" sz="950" dirty="0"/>
          </a:p>
        </p:txBody>
      </p:sp>
      <p:sp>
        <p:nvSpPr>
          <p:cNvPr id="41" name="Shape 34"/>
          <p:cNvSpPr/>
          <p:nvPr/>
        </p:nvSpPr>
        <p:spPr>
          <a:xfrm>
            <a:off x="4334256" y="4443984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2" name="Shape 35"/>
          <p:cNvSpPr/>
          <p:nvPr/>
        </p:nvSpPr>
        <p:spPr>
          <a:xfrm>
            <a:off x="4553712" y="4663440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FB1FF">
                <a:alpha val="70000"/>
              </a:srgbClr>
            </a:solidFill>
            <a:prstDash val="solid"/>
          </a:ln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8304" y="4828032"/>
            <a:ext cx="329184" cy="329184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5358384" y="4681728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Cam / Doorbell</a:t>
            </a:r>
            <a:endParaRPr lang="en-US" sz="1000" dirty="0"/>
          </a:p>
        </p:txBody>
      </p:sp>
      <p:sp>
        <p:nvSpPr>
          <p:cNvPr id="45" name="Text 37"/>
          <p:cNvSpPr/>
          <p:nvPr/>
        </p:nvSpPr>
        <p:spPr>
          <a:xfrm>
            <a:off x="5358384" y="4974336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影像門禁</a:t>
            </a:r>
            <a:endParaRPr lang="en-US" sz="1000" dirty="0"/>
          </a:p>
        </p:txBody>
      </p:sp>
      <p:sp>
        <p:nvSpPr>
          <p:cNvPr id="46" name="Shape 38"/>
          <p:cNvSpPr/>
          <p:nvPr/>
        </p:nvSpPr>
        <p:spPr>
          <a:xfrm>
            <a:off x="4572000" y="5468112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47" name="Text 39"/>
          <p:cNvSpPr/>
          <p:nvPr/>
        </p:nvSpPr>
        <p:spPr>
          <a:xfrm>
            <a:off x="4590288" y="5541264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門口 / 公區影像,對接門禁層</a:t>
            </a:r>
            <a:endParaRPr lang="en-US" sz="950" dirty="0"/>
          </a:p>
        </p:txBody>
      </p:sp>
      <p:sp>
        <p:nvSpPr>
          <p:cNvPr id="48" name="Shape 40"/>
          <p:cNvSpPr/>
          <p:nvPr/>
        </p:nvSpPr>
        <p:spPr>
          <a:xfrm>
            <a:off x="8211312" y="4443984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9" name="Shape 41"/>
          <p:cNvSpPr/>
          <p:nvPr/>
        </p:nvSpPr>
        <p:spPr>
          <a:xfrm>
            <a:off x="8430768" y="4663440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FB1FF">
                <a:alpha val="70000"/>
              </a:srgbClr>
            </a:solidFill>
            <a:prstDash val="solid"/>
          </a:ln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5360" y="4828032"/>
            <a:ext cx="329184" cy="329184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9235440" y="4681728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Thermostat</a:t>
            </a:r>
            <a:endParaRPr lang="en-US" sz="1000" dirty="0"/>
          </a:p>
        </p:txBody>
      </p:sp>
      <p:sp>
        <p:nvSpPr>
          <p:cNvPr id="52" name="Text 43"/>
          <p:cNvSpPr/>
          <p:nvPr/>
        </p:nvSpPr>
        <p:spPr>
          <a:xfrm>
            <a:off x="9235440" y="4974336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智能溫控</a:t>
            </a:r>
            <a:endParaRPr lang="en-US" sz="1000" dirty="0"/>
          </a:p>
        </p:txBody>
      </p:sp>
      <p:sp>
        <p:nvSpPr>
          <p:cNvPr id="53" name="Shape 44"/>
          <p:cNvSpPr/>
          <p:nvPr/>
        </p:nvSpPr>
        <p:spPr>
          <a:xfrm>
            <a:off x="8449056" y="5468112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54" name="Text 45"/>
          <p:cNvSpPr/>
          <p:nvPr/>
        </p:nvSpPr>
        <p:spPr>
          <a:xfrm>
            <a:off x="8467344" y="5541264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空調節能控制,連動 IoT 排程</a:t>
            </a:r>
            <a:endParaRPr lang="en-US" sz="950" dirty="0"/>
          </a:p>
        </p:txBody>
      </p:sp>
      <p:sp>
        <p:nvSpPr>
          <p:cNvPr id="55" name="Text 46"/>
          <p:cNvSpPr/>
          <p:nvPr/>
        </p:nvSpPr>
        <p:spPr>
          <a:xfrm>
            <a:off x="457200" y="6163056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Nest 音箱／顯示器的語音裝置控制經 Google 官方 Cloud-to-Cloud 標準整合；其餘 Nest 硬體為建議選配的同生態系設備,非既有程式整合。</a:t>
            </a:r>
            <a:endParaRPr lang="en-US" sz="1000" dirty="0"/>
          </a:p>
        </p:txBody>
      </p:sp>
      <p:sp>
        <p:nvSpPr>
          <p:cNvPr id="56" name="Text 47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選配・待接</a:t>
            </a:r>
            <a:endParaRPr lang="en-US" sz="1050" dirty="0"/>
          </a:p>
        </p:txBody>
      </p:sp>
      <p:sp>
        <p:nvSpPr>
          <p:cNvPr id="57" name="Text 48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推薦硬體配置清單 ── Google Nest 生態系</a:t>
            </a:r>
            <a:endParaRPr lang="en-US" sz="1050" dirty="0"/>
          </a:p>
        </p:txBody>
      </p:sp>
      <p:sp>
        <p:nvSpPr>
          <p:cNvPr id="58" name="Text 49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官方標準整合 · 國際級硬體品質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HARDWARE BILL OF MATERIALS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硬體明細總表：品項 × 規格 × 數量 × 階段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</a:rPr>
              <a:t>一行一項,可直接作為詢價依據;參考數量以單棟社區為基準,實際依建案規模於報價階段確認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完整品項明列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</a:rPr>
              <a:t>P0–P3 · 19 項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選配・待接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11274552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331720"/>
                <a:gridCol w="960120"/>
                <a:gridCol w="3986784"/>
                <a:gridCol w="1234440"/>
                <a:gridCol w="2103120"/>
              </a:tblGrid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階段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品項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分區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建議規格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參考數量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整合狀態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C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9D6A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櫃檯平板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管理終端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吋以上 Android / iPad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● 建議必備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9D6A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Google Nest 音箱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住戶智慧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Nest Mini / Audio(語音裝置控制)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● 建議必備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9D6A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示範閘道＋情境設備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社區中樞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迷你主機＋少量燈光/空調示範(或乾跑)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 式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FB1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 選配・待接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9D6A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雲端服務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雲端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Render + Vercel + LINE OA(免費層起步)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9D6A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● 已上線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路由 / 防火牆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網路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Gigabit・支援 VLAN 網段隔離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● 建議必備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PoE 網路交換器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網路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8–24 埠 802.3af/at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1–2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● 建議必備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邊緣閘道主機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社區中樞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無風扇工控機(N100 / 8GB / 128GB)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● 建議必備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不斷電系統 UPS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社區中樞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≥600VA 在線互動式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● 建議必備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管理中心 Kiosk 螢幕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管理終端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大螢幕一體機或電視＋瀏覽器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● 建議必備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雲端方案升級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雲端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Render Starter(持久磁碟)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9D6A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● 已上線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FB1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大廳 QR 掃碼門禁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公設門禁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QR 掃描器＋電子鎖控制器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出入口 ×2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FB1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 選配・待接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FB1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住戶 IoT 設備組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住戶智慧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燈光/空調/窗簾控制模組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每戶 1 式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9D6A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● 已上線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FB1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Nest 音箱/顯示器(住戶)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住戶智慧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Nest Hub 7 吋(語音＋觸控面板)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每戶 1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9D6A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● 已上線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FB1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Google Nest Wifi Pro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網路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Wi-Fi 6E Mesh(3-pack)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 組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C9A3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● 建議必備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FB1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協定橋接模組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社區中樞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MQTT Broker＋Modbus 閘道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 式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FB1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 選配・待接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6CF9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車牌辨識柵欄(LPR)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公設門禁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LPR 攝影機＋柵欄機連動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車道 ×1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FB1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 選配・待接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6CF9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智能包裹櫃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公設門禁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格口式 20–40 格,掃碼取件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 組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FB1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 選配・待接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6CF9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電梯介接控制器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公設門禁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乾接點 / BACnet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每梯 ×1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FB1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 選配・待接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1"/>
                    </a:solidFill>
                  </a:tcPr>
                </a:tc>
              </a:tr>
              <a:tr h="2304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6CF9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6F3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自架 NLP＋PostgreSQL・備援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5E74A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雲端/中樞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語意服務自架＋資料庫升級;雙 UPS/雙上聯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CDD8E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 式</a:t>
                      </a:r>
                      <a:endParaRPr lang="en-US" sz="93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FB1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 選配・待接</a:t>
                      </a:r>
                      <a:endParaRPr lang="en-US" sz="88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27278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本表不含報價;品牌型號為規格參考,可依建商既有供應鏈替換 —— 分層解耦架構下,設備經標準協定接入、單項可獨立更換。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推薦硬體配置清單 ── 硬體明細總表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P0 綠 · P1 金 · P2 藍 · P3 淺金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PHASED PROCUREMENT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分階段採購建議：什麼階段，買什麼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</a:rPr>
              <a:t>與《系統方案規劃書》P0–P3 對齊 —— 硬體隨建案工程分批就位,避免一次性重投資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同一平台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</a:rPr>
              <a:t>四階段分批採購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5488" y="1572768"/>
            <a:ext cx="2743200" cy="4224528"/>
          </a:xfrm>
          <a:prstGeom prst="roundRect">
            <a:avLst>
              <a:gd name="adj" fmla="val 3667"/>
            </a:avLst>
          </a:prstGeom>
          <a:solidFill>
            <a:srgbClr val="13241D">
              <a:alpha val="90000"/>
            </a:srgbClr>
          </a:solidFill>
          <a:ln w="12700">
            <a:solidFill>
              <a:srgbClr val="69D6A8">
                <a:alpha val="6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76656" y="1719072"/>
            <a:ext cx="402336" cy="402336"/>
          </a:xfrm>
          <a:prstGeom prst="ellipse">
            <a:avLst/>
          </a:prstGeom>
          <a:solidFill>
            <a:srgbClr val="69D6A8"/>
          </a:solidFill>
          <a:ln w="15240">
            <a:solidFill>
              <a:srgbClr val="0B12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220"/>
                </a:solidFill>
              </a:rPr>
              <a:t>P0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70432" y="1682496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平台開發・客製
</a:t>
            </a:r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預售期・即刻啟動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2267712"/>
            <a:ext cx="2377440" cy="0"/>
          </a:xfrm>
          <a:prstGeom prst="line">
            <a:avLst/>
          </a:prstGeom>
          <a:noFill/>
          <a:ln w="7620">
            <a:solidFill>
              <a:srgbClr val="69D6A8">
                <a:alpha val="60000"/>
              </a:srgbClr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8368" y="237744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櫃檯平板 ×1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59536" y="2596896"/>
            <a:ext cx="2212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樣品屋語音預約→派單實演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58368" y="310896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音箱 ×1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" y="3328416"/>
            <a:ext cx="2212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語音裝置控制展示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658368" y="384048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示範閘道＋情境設備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59536" y="4059936"/>
            <a:ext cx="2212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少量燈光/空調(或乾跑展示)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658368" y="457200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雲端(免費層)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9536" y="4791456"/>
            <a:ext cx="2212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Render + Vercel + LINE OA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21792" y="5340096"/>
            <a:ext cx="2450592" cy="329184"/>
          </a:xfrm>
          <a:prstGeom prst="roundRect">
            <a:avLst>
              <a:gd name="adj" fmla="val 19444"/>
            </a:avLst>
          </a:prstGeom>
          <a:solidFill>
            <a:srgbClr val="0E1A30">
              <a:alpha val="90000"/>
            </a:srgbClr>
          </a:solidFill>
          <a:ln w="7620">
            <a:solidFill>
              <a:srgbClr val="69D6A8">
                <a:alpha val="5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5340096"/>
            <a:ext cx="2450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最小配置:平板 ×1 + 音箱 ×1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191256" y="1719072"/>
            <a:ext cx="164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35A"/>
                </a:solidFill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328416" y="1572768"/>
            <a:ext cx="2743200" cy="4224528"/>
          </a:xfrm>
          <a:prstGeom prst="roundRect">
            <a:avLst>
              <a:gd name="adj" fmla="val 3667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529584" y="1719072"/>
            <a:ext cx="402336" cy="402336"/>
          </a:xfrm>
          <a:prstGeom prst="ellipse">
            <a:avLst/>
          </a:prstGeom>
          <a:solidFill>
            <a:srgbClr val="C9A35A"/>
          </a:solidFill>
          <a:ln w="15240">
            <a:solidFill>
              <a:srgbClr val="0B12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9584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220"/>
                </a:solidFill>
              </a:rPr>
              <a:t>P1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023360" y="1682496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基礎上線
</a:t>
            </a:r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工程期・交屋前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3511296" y="2267712"/>
            <a:ext cx="2377440" cy="0"/>
          </a:xfrm>
          <a:prstGeom prst="line">
            <a:avLst/>
          </a:prstGeom>
          <a:noFill/>
          <a:ln w="7620">
            <a:solidFill>
              <a:srgbClr val="C9A35A">
                <a:alpha val="60000"/>
              </a:srgbClr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3511296" y="237744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路由/防火牆(VLAN)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712464" y="2596896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IoT/管理/訪客網段隔離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3511296" y="296265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PoE 交換器 8–24 埠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712464" y="3182112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供電掃碼機/攝影機/AP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3511296" y="3547872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邊緣閘道主機 + UPS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712464" y="3767328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工控機常駐 + 斷電續航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3511296" y="4133088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櫃檯平板・管理 Kiosk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712464" y="4352544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物業營運雙終端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3511296" y="4718304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雲端升級 Starter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12464" y="4937760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持久磁碟,正式營運等級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3474720" y="5340096"/>
            <a:ext cx="2450592" cy="329184"/>
          </a:xfrm>
          <a:prstGeom prst="roundRect">
            <a:avLst>
              <a:gd name="adj" fmla="val 19444"/>
            </a:avLst>
          </a:prstGeom>
          <a:solidFill>
            <a:srgbClr val="0E1A30">
              <a:alpha val="90000"/>
            </a:srgbClr>
          </a:solidFill>
          <a:ln w="7620">
            <a:solidFill>
              <a:srgbClr val="C9A35A">
                <a:alpha val="5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0" y="5340096"/>
            <a:ext cx="2450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機房/弱電需工程期預留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044184" y="1719072"/>
            <a:ext cx="164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35A"/>
                </a:solidFill>
              </a:rPr>
              <a:t>→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181344" y="1572768"/>
            <a:ext cx="2743200" cy="4224528"/>
          </a:xfrm>
          <a:prstGeom prst="roundRect">
            <a:avLst>
              <a:gd name="adj" fmla="val 3667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382512" y="1719072"/>
            <a:ext cx="402336" cy="402336"/>
          </a:xfrm>
          <a:prstGeom prst="ellipse">
            <a:avLst/>
          </a:prstGeom>
          <a:solidFill>
            <a:srgbClr val="6FB1FF"/>
          </a:solidFill>
          <a:ln w="15240">
            <a:solidFill>
              <a:srgbClr val="0B122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220"/>
                </a:solidFill>
              </a:rPr>
              <a:t>P2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876288" y="1682496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智慧擴充
</a:t>
            </a:r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交屋・入住期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6364224" y="2267712"/>
            <a:ext cx="2377440" cy="0"/>
          </a:xfrm>
          <a:prstGeom prst="line">
            <a:avLst/>
          </a:prstGeom>
          <a:noFill/>
          <a:ln w="7620">
            <a:solidFill>
              <a:srgbClr val="6FB1FF">
                <a:alpha val="60000"/>
              </a:srgbClr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6364224" y="237744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大廳 QR 掃碼門禁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565392" y="2596896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通行證 QR 已實作,接上即用</a:t>
            </a:r>
            <a:endParaRPr lang="en-US" sz="820" dirty="0"/>
          </a:p>
        </p:txBody>
      </p:sp>
      <p:sp>
        <p:nvSpPr>
          <p:cNvPr id="48" name="Text 46"/>
          <p:cNvSpPr/>
          <p:nvPr/>
        </p:nvSpPr>
        <p:spPr>
          <a:xfrm>
            <a:off x="6364224" y="296265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 IoT 設備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565392" y="3182112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光/空調/窗簾,App 控制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6364224" y="3547872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音箱/顯示器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565392" y="3767328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住戶語音裝置控制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6364224" y="4133088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Wifi Pro(6E)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565392" y="4352544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公區與示範戶無線覆蓋</a:t>
            </a:r>
            <a:endParaRPr lang="en-US" sz="820" dirty="0"/>
          </a:p>
        </p:txBody>
      </p:sp>
      <p:sp>
        <p:nvSpPr>
          <p:cNvPr id="54" name="Text 52"/>
          <p:cNvSpPr/>
          <p:nvPr/>
        </p:nvSpPr>
        <p:spPr>
          <a:xfrm>
            <a:off x="6364224" y="4718304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協定橋接模組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565392" y="4937760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MQTT/Modbus 對接設備廠牌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6327648" y="5340096"/>
            <a:ext cx="2450592" cy="329184"/>
          </a:xfrm>
          <a:prstGeom prst="roundRect">
            <a:avLst>
              <a:gd name="adj" fmla="val 19444"/>
            </a:avLst>
          </a:prstGeom>
          <a:solidFill>
            <a:srgbClr val="0E1A30">
              <a:alpha val="90000"/>
            </a:srgbClr>
          </a:solidFill>
          <a:ln w="7620">
            <a:solidFill>
              <a:srgbClr val="6FB1FF">
                <a:alpha val="5500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27648" y="5340096"/>
            <a:ext cx="2450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住戶體驗集中在此階段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897112" y="1719072"/>
            <a:ext cx="164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35A"/>
                </a:solidFill>
              </a:rPr>
              <a:t>→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9034272" y="1572768"/>
            <a:ext cx="2743200" cy="4224528"/>
          </a:xfrm>
          <a:prstGeom prst="roundRect">
            <a:avLst>
              <a:gd name="adj" fmla="val 3667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9235440" y="1719072"/>
            <a:ext cx="402336" cy="402336"/>
          </a:xfrm>
          <a:prstGeom prst="ellipse">
            <a:avLst/>
          </a:prstGeom>
          <a:solidFill>
            <a:srgbClr val="E6CF9A"/>
          </a:solidFill>
          <a:ln w="15240">
            <a:solidFill>
              <a:srgbClr val="0B122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235440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220"/>
                </a:solidFill>
              </a:rPr>
              <a:t>P3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9729216" y="1682496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旗艦完善
</a:t>
            </a:r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營運成熟期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9217152" y="2267712"/>
            <a:ext cx="2377440" cy="0"/>
          </a:xfrm>
          <a:prstGeom prst="line">
            <a:avLst/>
          </a:prstGeom>
          <a:noFill/>
          <a:ln w="7620">
            <a:solidFill>
              <a:srgbClr val="E6CF9A">
                <a:alpha val="60000"/>
              </a:srgbClr>
            </a:solidFill>
            <a:prstDash val="dash"/>
          </a:ln>
        </p:spPr>
      </p:sp>
      <p:sp>
        <p:nvSpPr>
          <p:cNvPr id="64" name="Text 62"/>
          <p:cNvSpPr/>
          <p:nvPr/>
        </p:nvSpPr>
        <p:spPr>
          <a:xfrm>
            <a:off x="9217152" y="237744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車牌辨識柵欄(LPR)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418320" y="2596896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住戶車自動放行</a:t>
            </a:r>
            <a:endParaRPr lang="en-US" sz="820" dirty="0"/>
          </a:p>
        </p:txBody>
      </p:sp>
      <p:sp>
        <p:nvSpPr>
          <p:cNvPr id="66" name="Text 64"/>
          <p:cNvSpPr/>
          <p:nvPr/>
        </p:nvSpPr>
        <p:spPr>
          <a:xfrm>
            <a:off x="9217152" y="296265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智能包裹櫃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9418320" y="3182112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自助取件免排隊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9217152" y="3547872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電梯介接控制器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9418320" y="3767328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乾接點/BACnet 呼梯</a:t>
            </a:r>
            <a:endParaRPr lang="en-US" sz="820" dirty="0"/>
          </a:p>
        </p:txBody>
      </p:sp>
      <p:sp>
        <p:nvSpPr>
          <p:cNvPr id="70" name="Text 68"/>
          <p:cNvSpPr/>
          <p:nvPr/>
        </p:nvSpPr>
        <p:spPr>
          <a:xfrm>
            <a:off x="9217152" y="4133088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Hub Max 看板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9418320" y="4352544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公設迎賓/管理大屏</a:t>
            </a:r>
            <a:endParaRPr lang="en-US" sz="820" dirty="0"/>
          </a:p>
        </p:txBody>
      </p:sp>
      <p:sp>
        <p:nvSpPr>
          <p:cNvPr id="72" name="Text 70"/>
          <p:cNvSpPr/>
          <p:nvPr/>
        </p:nvSpPr>
        <p:spPr>
          <a:xfrm>
            <a:off x="9217152" y="4718304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自架 NLP + PG・雙備援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9418320" y="4937760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資料自主 + 旗艦可用性</a:t>
            </a:r>
            <a:endParaRPr lang="en-US" sz="820" dirty="0"/>
          </a:p>
        </p:txBody>
      </p:sp>
      <p:sp>
        <p:nvSpPr>
          <p:cNvPr id="74" name="Shape 72"/>
          <p:cNvSpPr/>
          <p:nvPr/>
        </p:nvSpPr>
        <p:spPr>
          <a:xfrm>
            <a:off x="9180576" y="5340096"/>
            <a:ext cx="2450592" cy="329184"/>
          </a:xfrm>
          <a:prstGeom prst="roundRect">
            <a:avLst>
              <a:gd name="adj" fmla="val 19444"/>
            </a:avLst>
          </a:prstGeom>
          <a:solidFill>
            <a:srgbClr val="0E1A30">
              <a:alpha val="90000"/>
            </a:srgbClr>
          </a:solidFill>
          <a:ln w="7620">
            <a:solidFill>
              <a:srgbClr val="E6CF9A">
                <a:alpha val="55000"/>
              </a:srgbClr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180576" y="5340096"/>
            <a:ext cx="2450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全數選配,逐項導入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475488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每階段獨立驗收,採購節奏可依銷售進度調節;P1 的機房位置與弱電管線需於建案工程期預留(與土建併行)。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推薦硬體配置清單 ── 分階段採購建議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P0 開發 → P1 基礎 → P2 智慧 → P3 旗艦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推薦硬體配置清單</dc:title>
  <dc:subject>PptxGenJS Presentation</dc:subject>
  <dc:creator>智慧住宅管理平台</dc:creator>
  <cp:lastModifiedBy>智慧住宅管理平台</cp:lastModifiedBy>
  <cp:revision>1</cp:revision>
  <dcterms:created xsi:type="dcterms:W3CDTF">2026-07-21T08:06:53Z</dcterms:created>
  <dcterms:modified xsi:type="dcterms:W3CDTF">2026-07-21T08:06:53Z</dcterms:modified>
</cp:coreProperties>
</file>