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1207008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18688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A"/>
                </a:solidFill>
              </a:rPr>
              <a:t>BUILDER VALUE PROPOSAL · 建商價值提案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3621024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讓智慧，成為建案的差異化賣點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32704" y="4608576"/>
            <a:ext cx="914400" cy="0"/>
          </a:xfrm>
          <a:prstGeom prst="line">
            <a:avLst/>
          </a:prstGeom>
          <a:noFill/>
          <a:ln w="15240">
            <a:solidFill>
              <a:srgbClr val="C9A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77316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高級住宅・智慧管理平台　｜　住戶 · 管理中心 · 物業，同一顆大腦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68756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CF9A"/>
                </a:solidFill>
              </a:rPr>
              <a:t>智能音箱 × LINE × IoT</a:t>
            </a:r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</a:rPr>
              <a:t>　·　聽懂需求 · 自動判斷 · 智能調度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A0"/>
                </a:solidFill>
              </a:rPr>
              <a:t>建商打造 · 交屋即具備的智慧住宅體驗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LUXURY RESIDENCE · INTELLIGENT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一顆聰明大腦，串起住戶的每個生活需求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</a:rPr>
              <a:t>從「口說設備」到「任務分派」— 五大生活場景，同一智能中樞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</a:rPr>
              <a:t>建商級住宅管理平台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</a:rPr>
              <a:t>智能音箱 × LINE × IoT
</a:t>
            </a:r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</a:rPr>
              <a:t>住戶 · 管理中心 · 物業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719072"/>
            <a:ext cx="859536" cy="85953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4" y="1719072"/>
            <a:ext cx="859536" cy="85953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1417320"/>
            <a:ext cx="1463040" cy="1463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1248" y="2578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8622792" y="2578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物業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480560" y="257860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管理中心</a:t>
            </a:r>
            <a:pPr algn="ctr" indent="0" marL="0">
              <a:buNone/>
            </a:pPr>
            <a:r>
              <a:rPr lang="en-US" sz="13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智能中樞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41248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B1FF"/>
                </a:solidFill>
              </a:rPr>
              <a:t>●  多元生活需求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622792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D6A8"/>
                </a:solidFill>
              </a:rPr>
              <a:t>●  駐點執行團隊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58368" y="31455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C"/>
                </a:solidFill>
              </a:rPr>
              <a:t>用最自然的方式提出：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C"/>
                </a:solidFill>
              </a:rPr>
              <a:t>說一句話、按一個鍵、掃一個碼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439912" y="31455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C"/>
                </a:solidFill>
              </a:rPr>
              <a:t>進駐各社區，手機收到清楚派工，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C"/>
                </a:solidFill>
              </a:rPr>
              <a:t>到場服務、即時回報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297680" y="2907792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DD8EC"/>
                </a:solidFill>
              </a:rPr>
              <a:t>建商打造的住宅管理大腦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DD8EC"/>
                </a:solidFill>
              </a:rPr>
              <a:t>聽懂需求 · 自動判斷 · 智能調度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10896" y="4078224"/>
            <a:ext cx="2194560" cy="2340864"/>
          </a:xfrm>
          <a:prstGeom prst="roundRect">
            <a:avLst>
              <a:gd name="adj" fmla="val 5000"/>
            </a:avLst>
          </a:prstGeom>
          <a:solidFill>
            <a:srgbClr val="12203A">
              <a:alpha val="78000"/>
            </a:srgbClr>
          </a:solidFill>
          <a:ln w="9525">
            <a:solidFill>
              <a:srgbClr val="C9A35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5488" y="3931920"/>
            <a:ext cx="310896" cy="310896"/>
          </a:xfrm>
          <a:prstGeom prst="ellipse">
            <a:avLst/>
          </a:prstGeom>
          <a:solidFill>
            <a:srgbClr val="C9A35A"/>
          </a:solidFill>
          <a:ln/>
          <a:effectLst>
            <a:outerShdw sx="100000" sy="100000" kx="0" ky="0" algn="bl" rotWithShape="0" blurRad="63500" dist="25400" dir="5400000">
              <a:srgbClr val="000000">
                <a:alpha val="4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75488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04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04672" y="4187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口說設備</a:t>
            </a:r>
            <a:pPr indent="0" marL="0">
              <a:buNone/>
            </a:pPr>
            <a:r>
              <a:rPr lang="en-US" sz="95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說一句話就完成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475488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1480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住戶口說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「冷氣壞了」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475488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88136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大腦聽懂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建立報修工單</a:t>
            </a:r>
            <a:endParaRPr lang="en-US" sz="8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808" y="475488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764792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物業到府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維修並回報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969264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645920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75488" y="5870448"/>
            <a:ext cx="18653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30" name="Text 22"/>
          <p:cNvSpPr/>
          <p:nvPr/>
        </p:nvSpPr>
        <p:spPr>
          <a:xfrm>
            <a:off x="475488" y="592531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情境：對</a:t>
            </a:r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6CF9A"/>
                </a:solidFill>
              </a:rPr>
              <a:t>智能音箱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說一句話即派工，LINE 補單、免裝 App。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2651760" y="4078224"/>
            <a:ext cx="2194560" cy="2340864"/>
          </a:xfrm>
          <a:prstGeom prst="roundRect">
            <a:avLst>
              <a:gd name="adj" fmla="val 5000"/>
            </a:avLst>
          </a:prstGeom>
          <a:solidFill>
            <a:srgbClr val="12203A">
              <a:alpha val="78000"/>
            </a:srgbClr>
          </a:solidFill>
          <a:ln w="9525">
            <a:solidFill>
              <a:srgbClr val="C9A35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2816352" y="3931920"/>
            <a:ext cx="310896" cy="310896"/>
          </a:xfrm>
          <a:prstGeom prst="ellipse">
            <a:avLst/>
          </a:prstGeom>
          <a:solidFill>
            <a:srgbClr val="C9A35A"/>
          </a:solidFill>
          <a:ln/>
          <a:effectLst>
            <a:outerShdw sx="100000" sy="100000" kx="0" ky="0" algn="bl" rotWithShape="0" blurRad="63500" dist="25400" dir="5400000">
              <a:srgbClr val="000000">
                <a:alpha val="40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2816352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04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145536" y="4187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電梯禮賓</a:t>
            </a:r>
            <a:pPr indent="0" marL="0">
              <a:buNone/>
            </a:pPr>
            <a:r>
              <a:rPr lang="en-US" sz="95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一句話到門口</a:t>
            </a:r>
            <a:endParaRPr lang="en-US" sz="12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0360" y="4754880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752344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住戶說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「我要下樓」</a:t>
            </a:r>
            <a:endParaRPr lang="en-US" sz="8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7016" y="4754880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429000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大腦呼叫電梯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升到你樓層</a:t>
            </a:r>
            <a:endParaRPr lang="en-US" sz="8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3672" y="4754880"/>
            <a:ext cx="384048" cy="38404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4105656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到門口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正好開門</a:t>
            </a:r>
            <a:endParaRPr lang="en-US" sz="800" dirty="0"/>
          </a:p>
        </p:txBody>
      </p:sp>
      <p:sp>
        <p:nvSpPr>
          <p:cNvPr id="41" name="Text 30"/>
          <p:cNvSpPr/>
          <p:nvPr/>
        </p:nvSpPr>
        <p:spPr>
          <a:xfrm>
            <a:off x="3310128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3986784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2816352" y="5870448"/>
            <a:ext cx="18653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44" name="Text 33"/>
          <p:cNvSpPr/>
          <p:nvPr/>
        </p:nvSpPr>
        <p:spPr>
          <a:xfrm>
            <a:off x="2816352" y="592531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情境：出門前一句話，電梯</a:t>
            </a:r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6CF9A"/>
                </a:solidFill>
              </a:rPr>
              <a:t>預先升到你樓層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，到門口正好開門。</a:t>
            </a:r>
            <a:endParaRPr lang="en-US" sz="850" dirty="0"/>
          </a:p>
        </p:txBody>
      </p:sp>
      <p:sp>
        <p:nvSpPr>
          <p:cNvPr id="45" name="Shape 34"/>
          <p:cNvSpPr/>
          <p:nvPr/>
        </p:nvSpPr>
        <p:spPr>
          <a:xfrm>
            <a:off x="4992624" y="4078224"/>
            <a:ext cx="2194560" cy="2340864"/>
          </a:xfrm>
          <a:prstGeom prst="roundRect">
            <a:avLst>
              <a:gd name="adj" fmla="val 5000"/>
            </a:avLst>
          </a:prstGeom>
          <a:solidFill>
            <a:srgbClr val="12203A">
              <a:alpha val="78000"/>
            </a:srgbClr>
          </a:solidFill>
          <a:ln w="9525">
            <a:solidFill>
              <a:srgbClr val="C9A35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5157216" y="3931920"/>
            <a:ext cx="310896" cy="310896"/>
          </a:xfrm>
          <a:prstGeom prst="ellipse">
            <a:avLst/>
          </a:prstGeom>
          <a:solidFill>
            <a:srgbClr val="C9A35A"/>
          </a:solidFill>
          <a:ln/>
          <a:effectLst>
            <a:outerShdw sx="100000" sy="100000" kx="0" ky="0" algn="bl" rotWithShape="0" blurRad="63500" dist="25400" dir="5400000">
              <a:srgbClr val="000000">
                <a:alpha val="40000"/>
              </a:srgbClr>
            </a:outerShdw>
          </a:effectLst>
        </p:spPr>
      </p:sp>
      <p:sp>
        <p:nvSpPr>
          <p:cNvPr id="47" name="Text 36"/>
          <p:cNvSpPr/>
          <p:nvPr/>
        </p:nvSpPr>
        <p:spPr>
          <a:xfrm>
            <a:off x="5157216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04"/>
                </a:solidFill>
              </a:rPr>
              <a:t>3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5486400" y="4187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機器人派送</a:t>
            </a:r>
            <a:pPr indent="0" marL="0">
              <a:buNone/>
            </a:pPr>
            <a:r>
              <a:rPr lang="en-US" sz="95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包裹自己會走</a:t>
            </a:r>
            <a:endParaRPr lang="en-US" sz="125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21224" y="4754880"/>
            <a:ext cx="384048" cy="38404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5093208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住戶說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「寄放包裹」</a:t>
            </a:r>
            <a:endParaRPr lang="en-US" sz="80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7880" y="4754880"/>
            <a:ext cx="384048" cy="38404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5769864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大腦派出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配送機器人</a:t>
            </a:r>
            <a:endParaRPr lang="en-US" sz="8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4536" y="4754880"/>
            <a:ext cx="384048" cy="384048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446520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到府取件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送達管理室</a:t>
            </a:r>
            <a:endParaRPr lang="en-US" sz="800" dirty="0"/>
          </a:p>
        </p:txBody>
      </p:sp>
      <p:sp>
        <p:nvSpPr>
          <p:cNvPr id="55" name="Text 41"/>
          <p:cNvSpPr/>
          <p:nvPr/>
        </p:nvSpPr>
        <p:spPr>
          <a:xfrm>
            <a:off x="5650992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56" name="Text 42"/>
          <p:cNvSpPr/>
          <p:nvPr/>
        </p:nvSpPr>
        <p:spPr>
          <a:xfrm>
            <a:off x="6327648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57" name="Shape 43"/>
          <p:cNvSpPr/>
          <p:nvPr/>
        </p:nvSpPr>
        <p:spPr>
          <a:xfrm>
            <a:off x="5157216" y="5870448"/>
            <a:ext cx="18653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58" name="Text 44"/>
          <p:cNvSpPr/>
          <p:nvPr/>
        </p:nvSpPr>
        <p:spPr>
          <a:xfrm>
            <a:off x="5157216" y="592531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情境：一句話叫出</a:t>
            </a:r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6CF9A"/>
                </a:solidFill>
              </a:rPr>
              <a:t>配送機器人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，到府取件、自動送達管理室。</a:t>
            </a:r>
            <a:endParaRPr lang="en-US" sz="850" dirty="0"/>
          </a:p>
        </p:txBody>
      </p:sp>
      <p:sp>
        <p:nvSpPr>
          <p:cNvPr id="59" name="Shape 45"/>
          <p:cNvSpPr/>
          <p:nvPr/>
        </p:nvSpPr>
        <p:spPr>
          <a:xfrm>
            <a:off x="7333488" y="4078224"/>
            <a:ext cx="2194560" cy="2340864"/>
          </a:xfrm>
          <a:prstGeom prst="roundRect">
            <a:avLst>
              <a:gd name="adj" fmla="val 5000"/>
            </a:avLst>
          </a:prstGeom>
          <a:solidFill>
            <a:srgbClr val="12203A">
              <a:alpha val="78000"/>
            </a:srgbClr>
          </a:solidFill>
          <a:ln w="9525">
            <a:solidFill>
              <a:srgbClr val="C9A35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60" name="Shape 46"/>
          <p:cNvSpPr/>
          <p:nvPr/>
        </p:nvSpPr>
        <p:spPr>
          <a:xfrm>
            <a:off x="7498080" y="3931920"/>
            <a:ext cx="310896" cy="310896"/>
          </a:xfrm>
          <a:prstGeom prst="ellipse">
            <a:avLst/>
          </a:prstGeom>
          <a:solidFill>
            <a:srgbClr val="C9A35A"/>
          </a:solidFill>
          <a:ln/>
          <a:effectLst>
            <a:outerShdw sx="100000" sy="100000" kx="0" ky="0" algn="bl" rotWithShape="0" blurRad="63500" dist="25400" dir="5400000">
              <a:srgbClr val="000000">
                <a:alpha val="40000"/>
              </a:srgbClr>
            </a:outerShdw>
          </a:effectLst>
        </p:spPr>
      </p:sp>
      <p:sp>
        <p:nvSpPr>
          <p:cNvPr id="61" name="Text 47"/>
          <p:cNvSpPr/>
          <p:nvPr/>
        </p:nvSpPr>
        <p:spPr>
          <a:xfrm>
            <a:off x="749808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04"/>
                </a:solidFill>
              </a:rPr>
              <a:t>4</a:t>
            </a:r>
            <a:endParaRPr lang="en-US" sz="1300" dirty="0"/>
          </a:p>
        </p:txBody>
      </p:sp>
      <p:sp>
        <p:nvSpPr>
          <p:cNvPr id="62" name="Text 48"/>
          <p:cNvSpPr/>
          <p:nvPr/>
        </p:nvSpPr>
        <p:spPr>
          <a:xfrm>
            <a:off x="7827264" y="4187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智能生活</a:t>
            </a:r>
            <a:pPr indent="0" marL="0">
              <a:buNone/>
            </a:pPr>
            <a:r>
              <a:rPr lang="en-US" sz="95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動口不動手</a:t>
            </a:r>
            <a:endParaRPr lang="en-US" sz="1250" dirty="0"/>
          </a:p>
        </p:txBody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2088" y="4754880"/>
            <a:ext cx="384048" cy="384048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7434072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預約公設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包裹 · 訪客</a:t>
            </a:r>
            <a:endParaRPr lang="en-US" sz="800" dirty="0"/>
          </a:p>
        </p:txBody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38744" y="4754880"/>
            <a:ext cx="384048" cy="384048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8110728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大腦排程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連動 IoT 設備</a:t>
            </a:r>
            <a:endParaRPr lang="en-US" sz="800" dirty="0"/>
          </a:p>
        </p:txBody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5400" y="4754880"/>
            <a:ext cx="384048" cy="384048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8787384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準時就緒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主動通知</a:t>
            </a:r>
            <a:endParaRPr lang="en-US" sz="800" dirty="0"/>
          </a:p>
        </p:txBody>
      </p:sp>
      <p:sp>
        <p:nvSpPr>
          <p:cNvPr id="69" name="Text 52"/>
          <p:cNvSpPr/>
          <p:nvPr/>
        </p:nvSpPr>
        <p:spPr>
          <a:xfrm>
            <a:off x="7991856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70" name="Text 53"/>
          <p:cNvSpPr/>
          <p:nvPr/>
        </p:nvSpPr>
        <p:spPr>
          <a:xfrm>
            <a:off x="8668512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71" name="Shape 54"/>
          <p:cNvSpPr/>
          <p:nvPr/>
        </p:nvSpPr>
        <p:spPr>
          <a:xfrm>
            <a:off x="7498080" y="5870448"/>
            <a:ext cx="18653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72" name="Text 55"/>
          <p:cNvSpPr/>
          <p:nvPr/>
        </p:nvSpPr>
        <p:spPr>
          <a:xfrm>
            <a:off x="7498080" y="592531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情境：預約公設，大腦</a:t>
            </a:r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6CF9A"/>
                </a:solidFill>
              </a:rPr>
              <a:t>自動排程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連動 IoT，準時就緒才通知你。</a:t>
            </a:r>
            <a:endParaRPr lang="en-US" sz="850" dirty="0"/>
          </a:p>
        </p:txBody>
      </p:sp>
      <p:sp>
        <p:nvSpPr>
          <p:cNvPr id="73" name="Shape 56"/>
          <p:cNvSpPr/>
          <p:nvPr/>
        </p:nvSpPr>
        <p:spPr>
          <a:xfrm>
            <a:off x="9674352" y="4078224"/>
            <a:ext cx="2194560" cy="2340864"/>
          </a:xfrm>
          <a:prstGeom prst="roundRect">
            <a:avLst>
              <a:gd name="adj" fmla="val 5000"/>
            </a:avLst>
          </a:prstGeom>
          <a:solidFill>
            <a:srgbClr val="12203A">
              <a:alpha val="78000"/>
            </a:srgbClr>
          </a:solidFill>
          <a:ln w="9525">
            <a:solidFill>
              <a:srgbClr val="C9A35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4" name="Shape 57"/>
          <p:cNvSpPr/>
          <p:nvPr/>
        </p:nvSpPr>
        <p:spPr>
          <a:xfrm>
            <a:off x="9838944" y="3931920"/>
            <a:ext cx="310896" cy="310896"/>
          </a:xfrm>
          <a:prstGeom prst="ellipse">
            <a:avLst/>
          </a:prstGeom>
          <a:solidFill>
            <a:srgbClr val="C9A35A"/>
          </a:solidFill>
          <a:ln/>
          <a:effectLst>
            <a:outerShdw sx="100000" sy="100000" kx="0" ky="0" algn="bl" rotWithShape="0" blurRad="63500" dist="25400" dir="5400000">
              <a:srgbClr val="000000">
                <a:alpha val="40000"/>
              </a:srgbClr>
            </a:outerShdw>
          </a:effectLst>
        </p:spPr>
      </p:sp>
      <p:sp>
        <p:nvSpPr>
          <p:cNvPr id="75" name="Text 58"/>
          <p:cNvSpPr/>
          <p:nvPr/>
        </p:nvSpPr>
        <p:spPr>
          <a:xfrm>
            <a:off x="9838944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04"/>
                </a:solidFill>
              </a:rPr>
              <a:t>5</a:t>
            </a:r>
            <a:endParaRPr lang="en-US" sz="1300" dirty="0"/>
          </a:p>
        </p:txBody>
      </p:sp>
      <p:sp>
        <p:nvSpPr>
          <p:cNvPr id="76" name="Text 59"/>
          <p:cNvSpPr/>
          <p:nvPr/>
        </p:nvSpPr>
        <p:spPr>
          <a:xfrm>
            <a:off x="10168128" y="4187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任務分派</a:t>
            </a:r>
            <a:pPr indent="0" marL="0">
              <a:buNone/>
            </a:pPr>
            <a:r>
              <a:rPr lang="en-US" sz="95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大腦自動調度</a:t>
            </a:r>
            <a:endParaRPr lang="en-US" sz="1250" dirty="0"/>
          </a:p>
        </p:txBody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2952" y="4754880"/>
            <a:ext cx="384048" cy="384048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9774936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多筆需求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同時湧入</a:t>
            </a:r>
            <a:endParaRPr lang="en-US" sz="800" dirty="0"/>
          </a:p>
        </p:txBody>
      </p:sp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79608" y="4754880"/>
            <a:ext cx="384048" cy="384048"/>
          </a:xfrm>
          <a:prstGeom prst="rect">
            <a:avLst/>
          </a:prstGeom>
        </p:spPr>
      </p:pic>
      <p:sp>
        <p:nvSpPr>
          <p:cNvPr id="80" name="Text 61"/>
          <p:cNvSpPr/>
          <p:nvPr/>
        </p:nvSpPr>
        <p:spPr>
          <a:xfrm>
            <a:off x="10451592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判斷優先級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就近指派</a:t>
            </a:r>
            <a:endParaRPr lang="en-US" sz="800" dirty="0"/>
          </a:p>
        </p:txBody>
      </p:sp>
      <p:pic>
        <p:nvPicPr>
          <p:cNvPr id="81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56264" y="4754880"/>
            <a:ext cx="384048" cy="384048"/>
          </a:xfrm>
          <a:prstGeom prst="rect">
            <a:avLst/>
          </a:prstGeom>
        </p:spPr>
      </p:pic>
      <p:sp>
        <p:nvSpPr>
          <p:cNvPr id="82" name="Text 62"/>
          <p:cNvSpPr/>
          <p:nvPr/>
        </p:nvSpPr>
        <p:spPr>
          <a:xfrm>
            <a:off x="11128248" y="52120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進度可追蹤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DD8EC"/>
                </a:solidFill>
              </a:rPr>
              <a:t>結案存證</a:t>
            </a:r>
            <a:endParaRPr lang="en-US" sz="800" dirty="0"/>
          </a:p>
        </p:txBody>
      </p:sp>
      <p:sp>
        <p:nvSpPr>
          <p:cNvPr id="83" name="Text 63"/>
          <p:cNvSpPr/>
          <p:nvPr/>
        </p:nvSpPr>
        <p:spPr>
          <a:xfrm>
            <a:off x="10332720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84" name="Text 64"/>
          <p:cNvSpPr/>
          <p:nvPr/>
        </p:nvSpPr>
        <p:spPr>
          <a:xfrm>
            <a:off x="11009376" y="47365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35A"/>
                </a:solidFill>
              </a:rPr>
              <a:t>→</a:t>
            </a:r>
            <a:endParaRPr lang="en-US" sz="1200" dirty="0"/>
          </a:p>
        </p:txBody>
      </p:sp>
      <p:sp>
        <p:nvSpPr>
          <p:cNvPr id="85" name="Shape 65"/>
          <p:cNvSpPr/>
          <p:nvPr/>
        </p:nvSpPr>
        <p:spPr>
          <a:xfrm>
            <a:off x="9838944" y="5870448"/>
            <a:ext cx="18653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86" name="Text 66"/>
          <p:cNvSpPr/>
          <p:nvPr/>
        </p:nvSpPr>
        <p:spPr>
          <a:xfrm>
            <a:off x="9838944" y="592531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情境：多筆需求湧入，</a:t>
            </a:r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6CF9A"/>
                </a:solidFill>
              </a:rPr>
              <a:t>就近指派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9FB0CC"/>
                </a:solidFill>
              </a:rPr>
              <a:t>合適人員，進度全程可追蹤。</a:t>
            </a:r>
            <a:endParaRPr lang="en-US" sz="850" dirty="0"/>
          </a:p>
        </p:txBody>
      </p:sp>
      <p:sp>
        <p:nvSpPr>
          <p:cNvPr id="87" name="Text 67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</a:rPr>
              <a:t>高級住宅・智慧管理應用場景</a:t>
            </a:r>
            <a:endParaRPr lang="en-US" sz="1050" dirty="0"/>
          </a:p>
        </p:txBody>
      </p:sp>
      <p:sp>
        <p:nvSpPr>
          <p:cNvPr id="88" name="Text 68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</a:rPr>
              <a:t>住戶提出 → 管理中心理解 → 物業執行 → 回饋住戶　｜　同一顆大腦，五種場景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WHY IT MATTERS TO DEVELOPERS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智慧化 ＝ 建案的硬實力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</a:rPr>
              <a:t>首案出發 — 先講清楚價值邏輯，量化數據隨導入逐案校準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530352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</a:rPr>
              <a:t>對建商的價值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</a:rPr>
              <a:t>溢價 · 去化 · 降本 · 品牌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487168" cy="2505456"/>
          </a:xfrm>
          <a:prstGeom prst="roundRect">
            <a:avLst>
              <a:gd name="adj" fmla="val 4412"/>
            </a:avLst>
          </a:prstGeom>
          <a:solidFill>
            <a:srgbClr val="12203A">
              <a:alpha val="82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304288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98094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定價的支點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0080" y="34747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</a:rPr>
              <a:t>單價溢價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43000" y="3803904"/>
            <a:ext cx="1481328" cy="0"/>
          </a:xfrm>
          <a:prstGeom prst="line">
            <a:avLst/>
          </a:prstGeom>
          <a:noFill/>
          <a:ln w="6350">
            <a:solidFill>
              <a:srgbClr val="C9A35A">
                <a:alpha val="50000"/>
              </a:srgbClr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41248" y="38770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DD8EC"/>
                </a:solidFill>
              </a:rPr>
              <a:t>把可體驗的智能規格寫進建案賣點，支撐每坪定價的議價力。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47288" y="2011680"/>
            <a:ext cx="2487168" cy="2505456"/>
          </a:xfrm>
          <a:prstGeom prst="roundRect">
            <a:avLst>
              <a:gd name="adj" fmla="val 4412"/>
            </a:avLst>
          </a:prstGeom>
          <a:solidFill>
            <a:srgbClr val="12203A">
              <a:alpha val="82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304288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7288" y="298094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好說的故事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3447288" y="34747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</a:rPr>
              <a:t>去化加速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950208" y="3803904"/>
            <a:ext cx="1481328" cy="0"/>
          </a:xfrm>
          <a:prstGeom prst="line">
            <a:avLst/>
          </a:prstGeom>
          <a:noFill/>
          <a:ln w="6350">
            <a:solidFill>
              <a:srgbClr val="C9A35A">
                <a:alpha val="50000"/>
              </a:srgbClr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3648456" y="38770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DD8EC"/>
                </a:solidFill>
              </a:rPr>
              <a:t>接待中心多一個能現場演示的成交理由，縮短猶豫期。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54496" y="2011680"/>
            <a:ext cx="2487168" cy="2505456"/>
          </a:xfrm>
          <a:prstGeom prst="roundRect">
            <a:avLst>
              <a:gd name="adj" fmla="val 4412"/>
            </a:avLst>
          </a:prstGeom>
          <a:solidFill>
            <a:srgbClr val="12203A">
              <a:alpha val="82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2304288"/>
            <a:ext cx="566928" cy="5669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98094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數位化派工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6254496" y="34747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</a:rPr>
              <a:t>物管降本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757416" y="3803904"/>
            <a:ext cx="1481328" cy="0"/>
          </a:xfrm>
          <a:prstGeom prst="line">
            <a:avLst/>
          </a:prstGeom>
          <a:noFill/>
          <a:ln w="6350">
            <a:solidFill>
              <a:srgbClr val="C9A35A">
                <a:alpha val="50000"/>
              </a:srgbClr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6455664" y="38770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DD8EC"/>
                </a:solidFill>
              </a:rPr>
              <a:t>報修、派工、回報全程上線，減少人力往返與紙本作業。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61704" y="2011680"/>
            <a:ext cx="2487168" cy="2505456"/>
          </a:xfrm>
          <a:prstGeom prst="roundRect">
            <a:avLst>
              <a:gd name="adj" fmla="val 4412"/>
            </a:avLst>
          </a:prstGeom>
          <a:solidFill>
            <a:srgbClr val="12203A">
              <a:alpha val="82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4" y="2304288"/>
            <a:ext cx="566928" cy="5669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61704" y="298094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口碑的來源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9061704" y="34747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</a:rPr>
              <a:t>品牌資產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564624" y="3803904"/>
            <a:ext cx="1481328" cy="0"/>
          </a:xfrm>
          <a:prstGeom prst="line">
            <a:avLst/>
          </a:prstGeom>
          <a:noFill/>
          <a:ln w="6350">
            <a:solidFill>
              <a:srgbClr val="C9A35A">
                <a:alpha val="50000"/>
              </a:srgbClr>
            </a:solidFill>
            <a:prstDash val="dash"/>
          </a:ln>
        </p:spPr>
      </p:sp>
      <p:sp>
        <p:nvSpPr>
          <p:cNvPr id="29" name="Text 23"/>
          <p:cNvSpPr/>
          <p:nvPr/>
        </p:nvSpPr>
        <p:spPr>
          <a:xfrm>
            <a:off x="9262872" y="38770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DD8EC"/>
                </a:solidFill>
              </a:rPr>
              <a:t>從『有人管理』升級為主動服務，交屋後沉澱為社區口碑。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0080" y="4828032"/>
            <a:ext cx="10908792" cy="969264"/>
          </a:xfrm>
          <a:prstGeom prst="roundRect">
            <a:avLst>
              <a:gd name="adj" fmla="val 9434"/>
            </a:avLst>
          </a:prstGeom>
          <a:solidFill>
            <a:srgbClr val="14253F">
              <a:alpha val="90000"/>
            </a:srgbClr>
          </a:solidFill>
          <a:ln w="9525">
            <a:solidFill>
              <a:srgbClr val="C9A35A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102352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27632" y="497433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為什麼是現在　</a:t>
            </a:r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建商的先行者紅利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627632" y="5358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0CC"/>
                </a:solidFill>
              </a:rPr>
              <a:t>智慧住宅正從『加分項』走向『必選項』。首案導入即建立規格話語權與營運數據，讓下一案直接帶著標準與籌碼上桌。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</a:rPr>
              <a:t>※ 本頁為價值主張與作用機制說明；本案為平台首發落地，量化效益將隨首案試營運逐案建立。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</a:rPr>
              <a:t>高級住宅・智慧管理平台 ── 建商價值說帖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</a:rPr>
              <a:t>住戶體驗 → 建案賣點 → 銷售溢價與管理降本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建商價值提案</dc:title>
  <dc:subject>PptxGenJS Presentation</dc:subject>
  <dc:creator>智慧住宅管理平台</dc:creator>
  <cp:lastModifiedBy>智慧住宅管理平台</cp:lastModifiedBy>
  <cp:revision>1</cp:revision>
  <dcterms:created xsi:type="dcterms:W3CDTF">2026-06-08T19:23:36Z</dcterms:created>
  <dcterms:modified xsi:type="dcterms:W3CDTF">2026-06-08T19:23:36Z</dcterms:modified>
</cp:coreProperties>
</file>