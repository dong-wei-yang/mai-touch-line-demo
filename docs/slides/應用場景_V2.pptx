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4" y="1207008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21868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BUILDER VALUE PROPOSAL · 建商價值提案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621024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讓智慧，成為建案的差異化賣點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32704" y="4608576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77316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住戶 · 管理中心 · 物業，同一顆大腦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68756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</a:rPr>
              <a:t>智能音箱 × LINE × IoT</a:t>
            </a:r>
            <a:pPr algn="ctr"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　·　聽懂需求 · 自動判斷 · 智能調度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建商打造 · 交屋即具備的智慧住宅體驗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LUXURY RESIDENCE · INTELLIGENT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一顆聰明大腦，串起住戶的每個生活需求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C"/>
                </a:solidFill>
              </a:rPr>
              <a:t>從「口說設備」到「任務分派」— 五大生活場景，同一智能中樞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智能音箱 × LINE × IoT
</a:t>
            </a:r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住戶 · 管理中心 · 物業</a:t>
            </a:r>
            <a:endParaRPr lang="en-US" sz="11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719072"/>
            <a:ext cx="859536" cy="859536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624" y="1719072"/>
            <a:ext cx="859536" cy="859536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8384" y="1417320"/>
            <a:ext cx="1463040" cy="1463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41248" y="257860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8622792" y="257860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4480560" y="2578608"/>
            <a:ext cx="3227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</a:t>
            </a:r>
            <a:pPr algn="ctr" indent="0" marL="0">
              <a:buNone/>
            </a:pPr>
            <a:r>
              <a:rPr lang="en-US" sz="13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智能中樞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841248" y="2907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B1FF"/>
                </a:solidFill>
              </a:rPr>
              <a:t>●  多元生活需求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8622792" y="2907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D6A8"/>
                </a:solidFill>
              </a:rPr>
              <a:t>●  駐點執行團隊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658368" y="31455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B0CC"/>
                </a:solidFill>
              </a:rPr>
              <a:t>用最自然的方式提出：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B0CC"/>
                </a:solidFill>
              </a:rPr>
              <a:t>說一句話、按一個鍵、掃一個碼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8439912" y="31455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B0CC"/>
                </a:solidFill>
              </a:rPr>
              <a:t>進駐各社區，手機收到清楚派工，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B0CC"/>
                </a:solidFill>
              </a:rPr>
              <a:t>到場服務、即時回報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297680" y="2907792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DD8EC"/>
                </a:solidFill>
              </a:rPr>
              <a:t>建商打造的住宅管理大腦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DD8EC"/>
                </a:solidFill>
              </a:rPr>
              <a:t>聽懂需求 · 自動判斷 · 智能調度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486400" y="3675888"/>
            <a:ext cx="6391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場景可體驗階段　</a:t>
            </a:r>
            <a:pPr algn="r" indent="0" marL="0">
              <a:buNone/>
            </a:pPr>
            <a:r>
              <a:rPr lang="en-US" sz="10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</a:t>
            </a:r>
            <a:pPr algn="r"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預售樣品屋　</a:t>
            </a:r>
            <a:pPr algn="r" indent="0" marL="0">
              <a:buNone/>
            </a:pPr>
            <a:r>
              <a:rPr lang="en-US" sz="10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P1 </a:t>
            </a:r>
            <a:pPr algn="r"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交屋營運　</a:t>
            </a:r>
            <a:pPr algn="r" indent="0" marL="0">
              <a:buNone/>
            </a:pPr>
            <a:r>
              <a:rPr lang="en-US" sz="10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 </a:t>
            </a:r>
            <a:pPr algn="r"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智慧入住　</a:t>
            </a:r>
            <a:pPr algn="r" indent="0" marL="0">
              <a:buNone/>
            </a:pPr>
            <a:r>
              <a:rPr lang="en-US" sz="10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P3 </a:t>
            </a:r>
            <a:pPr algn="r"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10896" y="4078224"/>
            <a:ext cx="2194560" cy="2340864"/>
          </a:xfrm>
          <a:prstGeom prst="roundRect">
            <a:avLst>
              <a:gd name="adj" fmla="val 5000"/>
            </a:avLst>
          </a:prstGeom>
          <a:solidFill>
            <a:srgbClr val="12203A">
              <a:alpha val="78000"/>
            </a:srgbClr>
          </a:solidFill>
          <a:ln w="9525">
            <a:solidFill>
              <a:srgbClr val="C9A35A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5488" y="3931920"/>
            <a:ext cx="310896" cy="310896"/>
          </a:xfrm>
          <a:prstGeom prst="ellipse">
            <a:avLst/>
          </a:prstGeom>
          <a:solidFill>
            <a:srgbClr val="C9A35A"/>
          </a:solidFill>
          <a:ln/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75488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4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1847088" y="3950208"/>
            <a:ext cx="512064" cy="274320"/>
          </a:xfrm>
          <a:prstGeom prst="roundRect">
            <a:avLst>
              <a:gd name="adj" fmla="val 26667"/>
            </a:avLst>
          </a:prstGeom>
          <a:solidFill>
            <a:srgbClr val="69D6A8"/>
          </a:solidFill>
          <a:ln w="11430">
            <a:solidFill>
              <a:srgbClr val="0B1220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1847088" y="395020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P0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04672" y="4187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口說設備</a:t>
            </a:r>
            <a:pPr indent="0" marL="0">
              <a:buNone/>
            </a:pPr>
            <a:r>
              <a:rPr lang="en-US" sz="95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說一句話就完成</a:t>
            </a:r>
            <a:endParaRPr lang="en-US" sz="12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4754880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11480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住戶口說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「冷氣壞了」</a:t>
            </a:r>
            <a:endParaRPr lang="en-US" sz="8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152" y="4754880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88136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大腦聽懂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建立報修工單</a:t>
            </a:r>
            <a:endParaRPr lang="en-US" sz="8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2808" y="475488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764792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物業到府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維修並回報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969264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1645920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475488" y="5870448"/>
            <a:ext cx="18653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3" name="Text 25"/>
          <p:cNvSpPr/>
          <p:nvPr/>
        </p:nvSpPr>
        <p:spPr>
          <a:xfrm>
            <a:off x="475488" y="5925312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情境：對</a:t>
            </a:r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6CF9A"/>
                </a:solidFill>
              </a:rPr>
              <a:t>智能音箱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說一句話即派工，LINE 補單、免裝 App。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2651760" y="4078224"/>
            <a:ext cx="2194560" cy="2340864"/>
          </a:xfrm>
          <a:prstGeom prst="roundRect">
            <a:avLst>
              <a:gd name="adj" fmla="val 5000"/>
            </a:avLst>
          </a:prstGeom>
          <a:solidFill>
            <a:srgbClr val="12203A">
              <a:alpha val="78000"/>
            </a:srgbClr>
          </a:solidFill>
          <a:ln w="9525">
            <a:solidFill>
              <a:srgbClr val="C9A35A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2816352" y="3931920"/>
            <a:ext cx="310896" cy="310896"/>
          </a:xfrm>
          <a:prstGeom prst="ellipse">
            <a:avLst/>
          </a:prstGeom>
          <a:solidFill>
            <a:srgbClr val="C9A35A"/>
          </a:solidFill>
          <a:ln/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36" name="Text 28"/>
          <p:cNvSpPr/>
          <p:nvPr/>
        </p:nvSpPr>
        <p:spPr>
          <a:xfrm>
            <a:off x="2816352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4"/>
                </a:solidFill>
              </a:rPr>
              <a:t>2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4187952" y="3950208"/>
            <a:ext cx="512064" cy="274320"/>
          </a:xfrm>
          <a:prstGeom prst="roundRect">
            <a:avLst>
              <a:gd name="adj" fmla="val 26667"/>
            </a:avLst>
          </a:prstGeom>
          <a:solidFill>
            <a:srgbClr val="E6CF9A"/>
          </a:solidFill>
          <a:ln w="11430">
            <a:solidFill>
              <a:srgbClr val="0B1220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4187952" y="395020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P3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3145536" y="4187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電梯禮賓</a:t>
            </a:r>
            <a:pPr indent="0" marL="0">
              <a:buNone/>
            </a:pPr>
            <a:r>
              <a:rPr lang="en-US" sz="95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一句話到門口</a:t>
            </a:r>
            <a:endParaRPr lang="en-US" sz="1250" dirty="0"/>
          </a:p>
        </p:txBody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0360" y="4754880"/>
            <a:ext cx="384048" cy="3840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2752344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住戶說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「我要下樓」</a:t>
            </a:r>
            <a:endParaRPr lang="en-US" sz="80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7016" y="4754880"/>
            <a:ext cx="384048" cy="38404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3429000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大腦呼叫電梯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升到你樓層</a:t>
            </a:r>
            <a:endParaRPr lang="en-US" sz="8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3672" y="4754880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4105656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到門口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正好開門</a:t>
            </a:r>
            <a:endParaRPr lang="en-US" sz="800" dirty="0"/>
          </a:p>
        </p:txBody>
      </p:sp>
      <p:sp>
        <p:nvSpPr>
          <p:cNvPr id="46" name="Text 35"/>
          <p:cNvSpPr/>
          <p:nvPr/>
        </p:nvSpPr>
        <p:spPr>
          <a:xfrm>
            <a:off x="3310128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47" name="Text 36"/>
          <p:cNvSpPr/>
          <p:nvPr/>
        </p:nvSpPr>
        <p:spPr>
          <a:xfrm>
            <a:off x="3986784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48" name="Shape 37"/>
          <p:cNvSpPr/>
          <p:nvPr/>
        </p:nvSpPr>
        <p:spPr>
          <a:xfrm>
            <a:off x="2816352" y="5870448"/>
            <a:ext cx="18653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9" name="Text 38"/>
          <p:cNvSpPr/>
          <p:nvPr/>
        </p:nvSpPr>
        <p:spPr>
          <a:xfrm>
            <a:off x="2816352" y="5925312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情境：出門前一句話，電梯</a:t>
            </a:r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6CF9A"/>
                </a:solidFill>
              </a:rPr>
              <a:t>預先升到你樓層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，到門口正好開門。</a:t>
            </a:r>
            <a:endParaRPr lang="en-US" sz="850" dirty="0"/>
          </a:p>
        </p:txBody>
      </p:sp>
      <p:sp>
        <p:nvSpPr>
          <p:cNvPr id="50" name="Shape 39"/>
          <p:cNvSpPr/>
          <p:nvPr/>
        </p:nvSpPr>
        <p:spPr>
          <a:xfrm>
            <a:off x="4992624" y="4078224"/>
            <a:ext cx="2194560" cy="2340864"/>
          </a:xfrm>
          <a:prstGeom prst="roundRect">
            <a:avLst>
              <a:gd name="adj" fmla="val 5000"/>
            </a:avLst>
          </a:prstGeom>
          <a:solidFill>
            <a:srgbClr val="12203A">
              <a:alpha val="78000"/>
            </a:srgbClr>
          </a:solidFill>
          <a:ln w="9525">
            <a:solidFill>
              <a:srgbClr val="C9A35A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1" name="Shape 40"/>
          <p:cNvSpPr/>
          <p:nvPr/>
        </p:nvSpPr>
        <p:spPr>
          <a:xfrm>
            <a:off x="5157216" y="3931920"/>
            <a:ext cx="310896" cy="310896"/>
          </a:xfrm>
          <a:prstGeom prst="ellipse">
            <a:avLst/>
          </a:prstGeom>
          <a:solidFill>
            <a:srgbClr val="C9A35A"/>
          </a:solidFill>
          <a:ln/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52" name="Text 41"/>
          <p:cNvSpPr/>
          <p:nvPr/>
        </p:nvSpPr>
        <p:spPr>
          <a:xfrm>
            <a:off x="5157216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4"/>
                </a:solidFill>
              </a:rPr>
              <a:t>3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6528816" y="3950208"/>
            <a:ext cx="512064" cy="274320"/>
          </a:xfrm>
          <a:prstGeom prst="roundRect">
            <a:avLst>
              <a:gd name="adj" fmla="val 26667"/>
            </a:avLst>
          </a:prstGeom>
          <a:solidFill>
            <a:srgbClr val="E6CF9A"/>
          </a:solidFill>
          <a:ln w="11430">
            <a:solidFill>
              <a:srgbClr val="0B1220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54" name="Text 43"/>
          <p:cNvSpPr/>
          <p:nvPr/>
        </p:nvSpPr>
        <p:spPr>
          <a:xfrm>
            <a:off x="6528816" y="395020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P3</a:t>
            </a:r>
            <a:endParaRPr lang="en-US" sz="1100" dirty="0"/>
          </a:p>
        </p:txBody>
      </p:sp>
      <p:sp>
        <p:nvSpPr>
          <p:cNvPr id="55" name="Text 44"/>
          <p:cNvSpPr/>
          <p:nvPr/>
        </p:nvSpPr>
        <p:spPr>
          <a:xfrm>
            <a:off x="5486400" y="4187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機器人派送</a:t>
            </a:r>
            <a:pPr indent="0" marL="0">
              <a:buNone/>
            </a:pPr>
            <a:r>
              <a:rPr lang="en-US" sz="95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包裹自己會走</a:t>
            </a:r>
            <a:endParaRPr lang="en-US" sz="1250" dirty="0"/>
          </a:p>
        </p:txBody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21224" y="4754880"/>
            <a:ext cx="384048" cy="384048"/>
          </a:xfrm>
          <a:prstGeom prst="rect">
            <a:avLst/>
          </a:prstGeom>
        </p:spPr>
      </p:pic>
      <p:sp>
        <p:nvSpPr>
          <p:cNvPr id="57" name="Text 45"/>
          <p:cNvSpPr/>
          <p:nvPr/>
        </p:nvSpPr>
        <p:spPr>
          <a:xfrm>
            <a:off x="5093208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住戶說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「寄放包裹」</a:t>
            </a:r>
            <a:endParaRPr lang="en-US" sz="800" dirty="0"/>
          </a:p>
        </p:txBody>
      </p:sp>
      <p:pic>
        <p:nvPicPr>
          <p:cNvPr id="58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7880" y="4754880"/>
            <a:ext cx="384048" cy="384048"/>
          </a:xfrm>
          <a:prstGeom prst="rect">
            <a:avLst/>
          </a:prstGeom>
        </p:spPr>
      </p:pic>
      <p:sp>
        <p:nvSpPr>
          <p:cNvPr id="59" name="Text 46"/>
          <p:cNvSpPr/>
          <p:nvPr/>
        </p:nvSpPr>
        <p:spPr>
          <a:xfrm>
            <a:off x="5769864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大腦派出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配送機器人</a:t>
            </a:r>
            <a:endParaRPr lang="en-US" sz="800" dirty="0"/>
          </a:p>
        </p:txBody>
      </p:sp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74536" y="4754880"/>
            <a:ext cx="384048" cy="384048"/>
          </a:xfrm>
          <a:prstGeom prst="rect">
            <a:avLst/>
          </a:prstGeom>
        </p:spPr>
      </p:pic>
      <p:sp>
        <p:nvSpPr>
          <p:cNvPr id="61" name="Text 47"/>
          <p:cNvSpPr/>
          <p:nvPr/>
        </p:nvSpPr>
        <p:spPr>
          <a:xfrm>
            <a:off x="6446520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到府取件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送達管理室</a:t>
            </a:r>
            <a:endParaRPr lang="en-US" sz="800" dirty="0"/>
          </a:p>
        </p:txBody>
      </p:sp>
      <p:sp>
        <p:nvSpPr>
          <p:cNvPr id="62" name="Text 48"/>
          <p:cNvSpPr/>
          <p:nvPr/>
        </p:nvSpPr>
        <p:spPr>
          <a:xfrm>
            <a:off x="5650992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63" name="Text 49"/>
          <p:cNvSpPr/>
          <p:nvPr/>
        </p:nvSpPr>
        <p:spPr>
          <a:xfrm>
            <a:off x="6327648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64" name="Shape 50"/>
          <p:cNvSpPr/>
          <p:nvPr/>
        </p:nvSpPr>
        <p:spPr>
          <a:xfrm>
            <a:off x="5157216" y="5870448"/>
            <a:ext cx="18653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65" name="Text 51"/>
          <p:cNvSpPr/>
          <p:nvPr/>
        </p:nvSpPr>
        <p:spPr>
          <a:xfrm>
            <a:off x="5157216" y="5925312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情境：一句話叫出</a:t>
            </a:r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6CF9A"/>
                </a:solidFill>
              </a:rPr>
              <a:t>配送機器人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，到府取件、自動送達管理室。</a:t>
            </a:r>
            <a:endParaRPr lang="en-US" sz="850" dirty="0"/>
          </a:p>
        </p:txBody>
      </p:sp>
      <p:sp>
        <p:nvSpPr>
          <p:cNvPr id="66" name="Shape 52"/>
          <p:cNvSpPr/>
          <p:nvPr/>
        </p:nvSpPr>
        <p:spPr>
          <a:xfrm>
            <a:off x="7333488" y="4078224"/>
            <a:ext cx="2194560" cy="2340864"/>
          </a:xfrm>
          <a:prstGeom prst="roundRect">
            <a:avLst>
              <a:gd name="adj" fmla="val 5000"/>
            </a:avLst>
          </a:prstGeom>
          <a:solidFill>
            <a:srgbClr val="12203A">
              <a:alpha val="78000"/>
            </a:srgbClr>
          </a:solidFill>
          <a:ln w="9525">
            <a:solidFill>
              <a:srgbClr val="C9A35A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7" name="Shape 53"/>
          <p:cNvSpPr/>
          <p:nvPr/>
        </p:nvSpPr>
        <p:spPr>
          <a:xfrm>
            <a:off x="7498080" y="3931920"/>
            <a:ext cx="310896" cy="310896"/>
          </a:xfrm>
          <a:prstGeom prst="ellipse">
            <a:avLst/>
          </a:prstGeom>
          <a:solidFill>
            <a:srgbClr val="C9A35A"/>
          </a:solidFill>
          <a:ln/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68" name="Text 54"/>
          <p:cNvSpPr/>
          <p:nvPr/>
        </p:nvSpPr>
        <p:spPr>
          <a:xfrm>
            <a:off x="749808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4"/>
                </a:solidFill>
              </a:rPr>
              <a:t>4</a:t>
            </a:r>
            <a:endParaRPr lang="en-US" sz="1300" dirty="0"/>
          </a:p>
        </p:txBody>
      </p:sp>
      <p:sp>
        <p:nvSpPr>
          <p:cNvPr id="69" name="Shape 55"/>
          <p:cNvSpPr/>
          <p:nvPr/>
        </p:nvSpPr>
        <p:spPr>
          <a:xfrm>
            <a:off x="8869680" y="3950208"/>
            <a:ext cx="512064" cy="274320"/>
          </a:xfrm>
          <a:prstGeom prst="roundRect">
            <a:avLst>
              <a:gd name="adj" fmla="val 26667"/>
            </a:avLst>
          </a:prstGeom>
          <a:solidFill>
            <a:srgbClr val="6FB1FF"/>
          </a:solidFill>
          <a:ln w="11430">
            <a:solidFill>
              <a:srgbClr val="0B1220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70" name="Text 56"/>
          <p:cNvSpPr/>
          <p:nvPr/>
        </p:nvSpPr>
        <p:spPr>
          <a:xfrm>
            <a:off x="8869680" y="395020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P2</a:t>
            </a:r>
            <a:endParaRPr lang="en-US" sz="1100" dirty="0"/>
          </a:p>
        </p:txBody>
      </p:sp>
      <p:sp>
        <p:nvSpPr>
          <p:cNvPr id="71" name="Text 57"/>
          <p:cNvSpPr/>
          <p:nvPr/>
        </p:nvSpPr>
        <p:spPr>
          <a:xfrm>
            <a:off x="7827264" y="4187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智能生活</a:t>
            </a:r>
            <a:pPr indent="0" marL="0">
              <a:buNone/>
            </a:pPr>
            <a:r>
              <a:rPr lang="en-US" sz="95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動口不動手</a:t>
            </a:r>
            <a:endParaRPr lang="en-US" sz="1250" dirty="0"/>
          </a:p>
        </p:txBody>
      </p:sp>
      <p:pic>
        <p:nvPicPr>
          <p:cNvPr id="72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62088" y="4754880"/>
            <a:ext cx="384048" cy="384048"/>
          </a:xfrm>
          <a:prstGeom prst="rect">
            <a:avLst/>
          </a:prstGeom>
        </p:spPr>
      </p:pic>
      <p:sp>
        <p:nvSpPr>
          <p:cNvPr id="73" name="Text 58"/>
          <p:cNvSpPr/>
          <p:nvPr/>
        </p:nvSpPr>
        <p:spPr>
          <a:xfrm>
            <a:off x="7434072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預約公設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包裹 · 訪客</a:t>
            </a:r>
            <a:endParaRPr lang="en-US" sz="800" dirty="0"/>
          </a:p>
        </p:txBody>
      </p:sp>
      <p:pic>
        <p:nvPicPr>
          <p:cNvPr id="74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38744" y="4754880"/>
            <a:ext cx="384048" cy="384048"/>
          </a:xfrm>
          <a:prstGeom prst="rect">
            <a:avLst/>
          </a:prstGeom>
        </p:spPr>
      </p:pic>
      <p:sp>
        <p:nvSpPr>
          <p:cNvPr id="75" name="Text 59"/>
          <p:cNvSpPr/>
          <p:nvPr/>
        </p:nvSpPr>
        <p:spPr>
          <a:xfrm>
            <a:off x="8110728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大腦排程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連動 IoT 設備</a:t>
            </a:r>
            <a:endParaRPr lang="en-US" sz="800" dirty="0"/>
          </a:p>
        </p:txBody>
      </p:sp>
      <p:pic>
        <p:nvPicPr>
          <p:cNvPr id="7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4754880"/>
            <a:ext cx="384048" cy="384048"/>
          </a:xfrm>
          <a:prstGeom prst="rect">
            <a:avLst/>
          </a:prstGeom>
        </p:spPr>
      </p:pic>
      <p:sp>
        <p:nvSpPr>
          <p:cNvPr id="77" name="Text 60"/>
          <p:cNvSpPr/>
          <p:nvPr/>
        </p:nvSpPr>
        <p:spPr>
          <a:xfrm>
            <a:off x="8787384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準時就緒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主動通知</a:t>
            </a:r>
            <a:endParaRPr lang="en-US" sz="800" dirty="0"/>
          </a:p>
        </p:txBody>
      </p:sp>
      <p:sp>
        <p:nvSpPr>
          <p:cNvPr id="78" name="Text 61"/>
          <p:cNvSpPr/>
          <p:nvPr/>
        </p:nvSpPr>
        <p:spPr>
          <a:xfrm>
            <a:off x="7991856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79" name="Text 62"/>
          <p:cNvSpPr/>
          <p:nvPr/>
        </p:nvSpPr>
        <p:spPr>
          <a:xfrm>
            <a:off x="8668512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80" name="Shape 63"/>
          <p:cNvSpPr/>
          <p:nvPr/>
        </p:nvSpPr>
        <p:spPr>
          <a:xfrm>
            <a:off x="7498080" y="5870448"/>
            <a:ext cx="18653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81" name="Text 64"/>
          <p:cNvSpPr/>
          <p:nvPr/>
        </p:nvSpPr>
        <p:spPr>
          <a:xfrm>
            <a:off x="7498080" y="5925312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情境：預約公設，大腦</a:t>
            </a:r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6CF9A"/>
                </a:solidFill>
              </a:rPr>
              <a:t>自動排程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連動 IoT，準時就緒才通知你。</a:t>
            </a:r>
            <a:endParaRPr lang="en-US" sz="850" dirty="0"/>
          </a:p>
        </p:txBody>
      </p:sp>
      <p:sp>
        <p:nvSpPr>
          <p:cNvPr id="82" name="Shape 65"/>
          <p:cNvSpPr/>
          <p:nvPr/>
        </p:nvSpPr>
        <p:spPr>
          <a:xfrm>
            <a:off x="9674352" y="4078224"/>
            <a:ext cx="2194560" cy="2340864"/>
          </a:xfrm>
          <a:prstGeom prst="roundRect">
            <a:avLst>
              <a:gd name="adj" fmla="val 5000"/>
            </a:avLst>
          </a:prstGeom>
          <a:solidFill>
            <a:srgbClr val="12203A">
              <a:alpha val="78000"/>
            </a:srgbClr>
          </a:solidFill>
          <a:ln w="9525">
            <a:solidFill>
              <a:srgbClr val="C9A35A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3" name="Shape 66"/>
          <p:cNvSpPr/>
          <p:nvPr/>
        </p:nvSpPr>
        <p:spPr>
          <a:xfrm>
            <a:off x="9838944" y="3931920"/>
            <a:ext cx="310896" cy="310896"/>
          </a:xfrm>
          <a:prstGeom prst="ellipse">
            <a:avLst/>
          </a:prstGeom>
          <a:solidFill>
            <a:srgbClr val="C9A35A"/>
          </a:solidFill>
          <a:ln/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84" name="Text 67"/>
          <p:cNvSpPr/>
          <p:nvPr/>
        </p:nvSpPr>
        <p:spPr>
          <a:xfrm>
            <a:off x="9838944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4"/>
                </a:solidFill>
              </a:rPr>
              <a:t>5</a:t>
            </a:r>
            <a:endParaRPr lang="en-US" sz="1300" dirty="0"/>
          </a:p>
        </p:txBody>
      </p:sp>
      <p:sp>
        <p:nvSpPr>
          <p:cNvPr id="85" name="Shape 68"/>
          <p:cNvSpPr/>
          <p:nvPr/>
        </p:nvSpPr>
        <p:spPr>
          <a:xfrm>
            <a:off x="11210544" y="3950208"/>
            <a:ext cx="512064" cy="274320"/>
          </a:xfrm>
          <a:prstGeom prst="roundRect">
            <a:avLst>
              <a:gd name="adj" fmla="val 26667"/>
            </a:avLst>
          </a:prstGeom>
          <a:solidFill>
            <a:srgbClr val="C9A35A"/>
          </a:solidFill>
          <a:ln w="11430">
            <a:solidFill>
              <a:srgbClr val="0B1220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0000"/>
              </a:srgbClr>
            </a:outerShdw>
          </a:effectLst>
        </p:spPr>
      </p:sp>
      <p:sp>
        <p:nvSpPr>
          <p:cNvPr id="86" name="Text 69"/>
          <p:cNvSpPr/>
          <p:nvPr/>
        </p:nvSpPr>
        <p:spPr>
          <a:xfrm>
            <a:off x="11210544" y="395020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P1</a:t>
            </a:r>
            <a:endParaRPr lang="en-US" sz="1100" dirty="0"/>
          </a:p>
        </p:txBody>
      </p:sp>
      <p:sp>
        <p:nvSpPr>
          <p:cNvPr id="87" name="Text 70"/>
          <p:cNvSpPr/>
          <p:nvPr/>
        </p:nvSpPr>
        <p:spPr>
          <a:xfrm>
            <a:off x="10168128" y="4187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任務分派</a:t>
            </a:r>
            <a:pPr indent="0" marL="0">
              <a:buNone/>
            </a:pPr>
            <a:r>
              <a:rPr lang="en-US" sz="95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大腦自動調度</a:t>
            </a:r>
            <a:endParaRPr lang="en-US" sz="1250" dirty="0"/>
          </a:p>
        </p:txBody>
      </p:sp>
      <p:pic>
        <p:nvPicPr>
          <p:cNvPr id="88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02952" y="4754880"/>
            <a:ext cx="384048" cy="384048"/>
          </a:xfrm>
          <a:prstGeom prst="rect">
            <a:avLst/>
          </a:prstGeom>
        </p:spPr>
      </p:pic>
      <p:sp>
        <p:nvSpPr>
          <p:cNvPr id="89" name="Text 71"/>
          <p:cNvSpPr/>
          <p:nvPr/>
        </p:nvSpPr>
        <p:spPr>
          <a:xfrm>
            <a:off x="9774936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多筆需求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同時湧入</a:t>
            </a:r>
            <a:endParaRPr lang="en-US" sz="800" dirty="0"/>
          </a:p>
        </p:txBody>
      </p:sp>
      <p:pic>
        <p:nvPicPr>
          <p:cNvPr id="90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579608" y="4754880"/>
            <a:ext cx="384048" cy="384048"/>
          </a:xfrm>
          <a:prstGeom prst="rect">
            <a:avLst/>
          </a:prstGeom>
        </p:spPr>
      </p:pic>
      <p:sp>
        <p:nvSpPr>
          <p:cNvPr id="91" name="Text 72"/>
          <p:cNvSpPr/>
          <p:nvPr/>
        </p:nvSpPr>
        <p:spPr>
          <a:xfrm>
            <a:off x="10451592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判斷優先級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就近指派</a:t>
            </a:r>
            <a:endParaRPr lang="en-US" sz="800" dirty="0"/>
          </a:p>
        </p:txBody>
      </p:sp>
      <p:pic>
        <p:nvPicPr>
          <p:cNvPr id="92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56264" y="4754880"/>
            <a:ext cx="384048" cy="384048"/>
          </a:xfrm>
          <a:prstGeom prst="rect">
            <a:avLst/>
          </a:prstGeom>
        </p:spPr>
      </p:pic>
      <p:sp>
        <p:nvSpPr>
          <p:cNvPr id="93" name="Text 73"/>
          <p:cNvSpPr/>
          <p:nvPr/>
        </p:nvSpPr>
        <p:spPr>
          <a:xfrm>
            <a:off x="11128248" y="521208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進度可追蹤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DD8EC"/>
                </a:solidFill>
              </a:rPr>
              <a:t>結案存證</a:t>
            </a:r>
            <a:endParaRPr lang="en-US" sz="800" dirty="0"/>
          </a:p>
        </p:txBody>
      </p:sp>
      <p:sp>
        <p:nvSpPr>
          <p:cNvPr id="94" name="Text 74"/>
          <p:cNvSpPr/>
          <p:nvPr/>
        </p:nvSpPr>
        <p:spPr>
          <a:xfrm>
            <a:off x="10332720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95" name="Text 75"/>
          <p:cNvSpPr/>
          <p:nvPr/>
        </p:nvSpPr>
        <p:spPr>
          <a:xfrm>
            <a:off x="11009376" y="47365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→</a:t>
            </a:r>
            <a:endParaRPr lang="en-US" sz="1200" dirty="0"/>
          </a:p>
        </p:txBody>
      </p:sp>
      <p:sp>
        <p:nvSpPr>
          <p:cNvPr id="96" name="Shape 76"/>
          <p:cNvSpPr/>
          <p:nvPr/>
        </p:nvSpPr>
        <p:spPr>
          <a:xfrm>
            <a:off x="9838944" y="5870448"/>
            <a:ext cx="18653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97" name="Text 77"/>
          <p:cNvSpPr/>
          <p:nvPr/>
        </p:nvSpPr>
        <p:spPr>
          <a:xfrm>
            <a:off x="9838944" y="5925312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情境：多筆需求湧入，</a:t>
            </a:r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6CF9A"/>
                </a:solidFill>
              </a:rPr>
              <a:t>就近指派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9FB0CC"/>
                </a:solidFill>
              </a:rPr>
              <a:t>合適人員，進度全程可追蹤。</a:t>
            </a:r>
            <a:endParaRPr lang="en-US" sz="850" dirty="0"/>
          </a:p>
        </p:txBody>
      </p:sp>
      <p:sp>
        <p:nvSpPr>
          <p:cNvPr id="98" name="Text 78"/>
          <p:cNvSpPr/>
          <p:nvPr/>
        </p:nvSpPr>
        <p:spPr>
          <a:xfrm>
            <a:off x="54864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高級住宅・智慧管理應用場景</a:t>
            </a:r>
            <a:endParaRPr lang="en-US" sz="1050" dirty="0"/>
          </a:p>
        </p:txBody>
      </p:sp>
      <p:sp>
        <p:nvSpPr>
          <p:cNvPr id="99" name="Text 79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住戶提出 → 管理中心理解 → 物業執行 → 回饋住戶　｜　同一顆大腦，五種場景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WHY IT MATTERS TO DEVELOPERS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智慧化 ＝ 建案的硬實力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C"/>
                </a:solidFill>
              </a:rPr>
              <a:t>首案出發 — 先講清楚價值邏輯，量化數據隨導入逐案校準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95360" y="530352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對建商的價值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溢價 · 去化 · 降本 · 品牌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2487168" cy="2505456"/>
          </a:xfrm>
          <a:prstGeom prst="roundRect">
            <a:avLst>
              <a:gd name="adj" fmla="val 4412"/>
            </a:avLst>
          </a:prstGeom>
          <a:solidFill>
            <a:srgbClr val="12203A">
              <a:alpha val="82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304288"/>
            <a:ext cx="566928" cy="566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980944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定價的支點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34747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FB0CC"/>
                </a:solidFill>
              </a:rPr>
              <a:t>單價溢價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143000" y="3803904"/>
            <a:ext cx="1481328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841248" y="387705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DD8EC"/>
                </a:solidFill>
              </a:rPr>
              <a:t>把可體驗的智能規格寫進建案賣點，支撐每坪定價的議價力。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47288" y="2011680"/>
            <a:ext cx="2487168" cy="2505456"/>
          </a:xfrm>
          <a:prstGeom prst="roundRect">
            <a:avLst>
              <a:gd name="adj" fmla="val 4412"/>
            </a:avLst>
          </a:prstGeom>
          <a:solidFill>
            <a:srgbClr val="12203A">
              <a:alpha val="82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304288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47288" y="2980944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好說的故事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3447288" y="34747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FB0CC"/>
                </a:solidFill>
              </a:rPr>
              <a:t>去化加速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950208" y="3803904"/>
            <a:ext cx="1481328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17" name="Text 13"/>
          <p:cNvSpPr/>
          <p:nvPr/>
        </p:nvSpPr>
        <p:spPr>
          <a:xfrm>
            <a:off x="3648456" y="387705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DD8EC"/>
                </a:solidFill>
              </a:rPr>
              <a:t>接待中心多一個能現場演示的成交理由，縮短猶豫期。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54496" y="2011680"/>
            <a:ext cx="2487168" cy="2505456"/>
          </a:xfrm>
          <a:prstGeom prst="roundRect">
            <a:avLst>
              <a:gd name="adj" fmla="val 4412"/>
            </a:avLst>
          </a:prstGeom>
          <a:solidFill>
            <a:srgbClr val="12203A">
              <a:alpha val="82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4616" y="2304288"/>
            <a:ext cx="566928" cy="56692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980944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數位化派工</a:t>
            </a:r>
            <a:endParaRPr lang="en-US" sz="2100" dirty="0"/>
          </a:p>
        </p:txBody>
      </p:sp>
      <p:sp>
        <p:nvSpPr>
          <p:cNvPr id="21" name="Text 16"/>
          <p:cNvSpPr/>
          <p:nvPr/>
        </p:nvSpPr>
        <p:spPr>
          <a:xfrm>
            <a:off x="6254496" y="34747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FB0CC"/>
                </a:solidFill>
              </a:rPr>
              <a:t>物管降本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757416" y="3803904"/>
            <a:ext cx="1481328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6455664" y="387705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DD8EC"/>
                </a:solidFill>
              </a:rPr>
              <a:t>報修、派工、回報全程上線，減少人力往返與紙本作業。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061704" y="2011680"/>
            <a:ext cx="2487168" cy="2505456"/>
          </a:xfrm>
          <a:prstGeom prst="roundRect">
            <a:avLst>
              <a:gd name="adj" fmla="val 4412"/>
            </a:avLst>
          </a:prstGeom>
          <a:solidFill>
            <a:srgbClr val="12203A">
              <a:alpha val="82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2304288"/>
            <a:ext cx="566928" cy="56692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061704" y="2980944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口碑的來源</a:t>
            </a:r>
            <a:endParaRPr lang="en-US" sz="2100" dirty="0"/>
          </a:p>
        </p:txBody>
      </p:sp>
      <p:sp>
        <p:nvSpPr>
          <p:cNvPr id="27" name="Text 21"/>
          <p:cNvSpPr/>
          <p:nvPr/>
        </p:nvSpPr>
        <p:spPr>
          <a:xfrm>
            <a:off x="9061704" y="34747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FB0CC"/>
                </a:solidFill>
              </a:rPr>
              <a:t>品牌資產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9564624" y="3803904"/>
            <a:ext cx="1481328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29" name="Text 23"/>
          <p:cNvSpPr/>
          <p:nvPr/>
        </p:nvSpPr>
        <p:spPr>
          <a:xfrm>
            <a:off x="9262872" y="387705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DD8EC"/>
                </a:solidFill>
              </a:rPr>
              <a:t>從『有人管理』升級為主動服務，交屋後沉澱為社區口碑。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40080" y="4828032"/>
            <a:ext cx="10908792" cy="969264"/>
          </a:xfrm>
          <a:prstGeom prst="roundRect">
            <a:avLst>
              <a:gd name="adj" fmla="val 9434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102352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27632" y="497433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為什麼是現在　</a:t>
            </a:r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建商的先行者紅利</a:t>
            </a:r>
            <a:endParaRPr lang="en-US" sz="1500" dirty="0"/>
          </a:p>
        </p:txBody>
      </p:sp>
      <p:sp>
        <p:nvSpPr>
          <p:cNvPr id="33" name="Text 26"/>
          <p:cNvSpPr/>
          <p:nvPr/>
        </p:nvSpPr>
        <p:spPr>
          <a:xfrm>
            <a:off x="1627632" y="53583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智慧住宅正從『加分項』走向『必選項』。首案導入即建立規格話語權與營運數據，讓下一案直接帶著標準與籌碼上桌。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640080" y="60533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</a:rPr>
              <a:t>※ 本頁為價值主張與作用機制說明；本案為平台首發落地，量化效益將隨首案試營運逐案建立。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高級住宅・智慧管理平台 ── 建商價值說帖</a:t>
            </a:r>
            <a:endParaRPr lang="en-US" sz="1050" dirty="0"/>
          </a:p>
        </p:txBody>
      </p:sp>
      <p:sp>
        <p:nvSpPr>
          <p:cNvPr id="36" name="Text 29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住戶體驗 → 建案賣點 → 銷售溢價與管理降本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建商價值提案</dc:title>
  <dc:subject>PptxGenJS Presentation</dc:subject>
  <dc:creator>智慧住宅管理平台</dc:creator>
  <cp:lastModifiedBy>智慧住宅管理平台</cp:lastModifiedBy>
  <cp:revision>1</cp:revision>
  <dcterms:created xsi:type="dcterms:W3CDTF">2026-07-21T07:39:49Z</dcterms:created>
  <dcterms:modified xsi:type="dcterms:W3CDTF">2026-07-21T07:39:49Z</dcterms:modified>
</cp:coreProperties>
</file>